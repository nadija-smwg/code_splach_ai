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1af37c362a2457a" /><Relationship Type="http://schemas.openxmlformats.org/officeDocument/2006/relationships/extended-properties" Target="/docProps/app.xml" Id="Rfdf05b95978a476d" /><Relationship Type="http://schemas.openxmlformats.org/officeDocument/2006/relationships/officeDocument" Target="/ppt/presentation.xml" Id="R26ce788e71614ba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ce76c586e8844e6"/>
  </p:sldMasterIdLst>
  <p:notesMasterIdLst>
    <p:notesMasterId xmlns:r="http://schemas.openxmlformats.org/officeDocument/2006/relationships" r:id="Rac95694e4f494a80"/>
  </p:notesMasterIdLst>
  <p:sldIdLst>
    <p:sldId xmlns:r="http://schemas.openxmlformats.org/officeDocument/2006/relationships" id="256" r:id="Rb3248a04ec194fac"/>
    <p:sldId xmlns:r="http://schemas.openxmlformats.org/officeDocument/2006/relationships" id="257" r:id="Rdce8028bfd7a4914"/>
    <p:sldId xmlns:r="http://schemas.openxmlformats.org/officeDocument/2006/relationships" id="258" r:id="Rf2e007bf6b1445b8"/>
    <p:sldId xmlns:r="http://schemas.openxmlformats.org/officeDocument/2006/relationships" id="259" r:id="R5b657fd74b054b41"/>
    <p:sldId xmlns:r="http://schemas.openxmlformats.org/officeDocument/2006/relationships" id="260" r:id="R107675a4463e4924"/>
    <p:sldId xmlns:r="http://schemas.openxmlformats.org/officeDocument/2006/relationships" id="261" r:id="R07a4418d3da94c51"/>
    <p:sldId xmlns:r="http://schemas.openxmlformats.org/officeDocument/2006/relationships" id="262" r:id="R582ab570471646c9"/>
    <p:sldId xmlns:r="http://schemas.openxmlformats.org/officeDocument/2006/relationships" id="263" r:id="R7c7d1bcfc6e74b89"/>
    <p:sldId xmlns:r="http://schemas.openxmlformats.org/officeDocument/2006/relationships" id="264" r:id="R4e17aa4f03e04270"/>
    <p:sldId xmlns:r="http://schemas.openxmlformats.org/officeDocument/2006/relationships" id="265" r:id="Raf0ff21fe94a4af5"/>
    <p:sldId xmlns:r="http://schemas.openxmlformats.org/officeDocument/2006/relationships" id="266" r:id="R5e82badb81534a2e"/>
    <p:sldId xmlns:r="http://schemas.openxmlformats.org/officeDocument/2006/relationships" id="267" r:id="R3adc2b06838b4a9c"/>
    <p:sldId xmlns:r="http://schemas.openxmlformats.org/officeDocument/2006/relationships" id="268" r:id="R6c132c75e7b94c87"/>
    <p:sldId xmlns:r="http://schemas.openxmlformats.org/officeDocument/2006/relationships" id="269" r:id="R482da6af043343e0"/>
    <p:sldId xmlns:r="http://schemas.openxmlformats.org/officeDocument/2006/relationships" id="270" r:id="R10bf8b76ba574c23"/>
    <p:sldId xmlns:r="http://schemas.openxmlformats.org/officeDocument/2006/relationships" id="271" r:id="Rd800ea7e68c8494f"/>
    <p:sldId xmlns:r="http://schemas.openxmlformats.org/officeDocument/2006/relationships" id="272" r:id="Ra25eca109dbf4903"/>
  </p:sldIdLst>
  <p:sldSz cx="12192000" cy="6858000"/>
  <p:notesSz cx="6858000" cy="9144000"/>
  <p:embeddedFontLst>
    <p:embeddedFont>
      <p:font typeface="Play"/>
      <p:regular xmlns:r="http://schemas.openxmlformats.org/officeDocument/2006/relationships" r:id="R388d5b9798004722"/>
      <p:bold xmlns:r="http://schemas.openxmlformats.org/officeDocument/2006/relationships" r:id="R34e1e52050b4434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e9ff2592cf1486a" /><Relationship Type="http://schemas.openxmlformats.org/officeDocument/2006/relationships/slideMaster" Target="/ppt/slideMasters/slideMaster1.xml" Id="Rfce76c586e8844e6" /><Relationship Type="http://schemas.openxmlformats.org/officeDocument/2006/relationships/notesMaster" Target="/ppt/notesMasters/notesMaster1.xml" Id="Rac95694e4f494a80" /><Relationship Type="http://schemas.openxmlformats.org/officeDocument/2006/relationships/presProps" Target="/ppt/presProps.xml" Id="Rc29f1589e72a4424" /><Relationship Type="http://schemas.openxmlformats.org/officeDocument/2006/relationships/viewProps" Target="/ppt/viewProps.xml" Id="R8f3ddf33745b4ed4" /><Relationship Type="http://schemas.openxmlformats.org/officeDocument/2006/relationships/tableStyles" Target="/ppt/tableStyles.xml" Id="R1a0e853df5fa49f4" /><Relationship Type="http://schemas.openxmlformats.org/officeDocument/2006/relationships/font" Target="/ppt/fonts/font.dat" Id="R388d5b9798004722" /><Relationship Type="http://schemas.openxmlformats.org/officeDocument/2006/relationships/font" Target="/ppt/fonts/font2.dat" Id="R34e1e52050b44342" /><Relationship Type="http://schemas.openxmlformats.org/officeDocument/2006/relationships/slide" Target="/ppt/slides/slide1.xml" Id="Rb3248a04ec194fac" /><Relationship Type="http://schemas.openxmlformats.org/officeDocument/2006/relationships/slide" Target="/ppt/slides/slide2.xml" Id="Rdce8028bfd7a4914" /><Relationship Type="http://schemas.openxmlformats.org/officeDocument/2006/relationships/slide" Target="/ppt/slides/slide3.xml" Id="Rf2e007bf6b1445b8" /><Relationship Type="http://schemas.openxmlformats.org/officeDocument/2006/relationships/slide" Target="/ppt/slides/slide4.xml" Id="R5b657fd74b054b41" /><Relationship Type="http://schemas.openxmlformats.org/officeDocument/2006/relationships/slide" Target="/ppt/slides/slide5.xml" Id="R107675a4463e4924" /><Relationship Type="http://schemas.openxmlformats.org/officeDocument/2006/relationships/slide" Target="/ppt/slides/slide6.xml" Id="R07a4418d3da94c51" /><Relationship Type="http://schemas.openxmlformats.org/officeDocument/2006/relationships/slide" Target="/ppt/slides/slide7.xml" Id="R582ab570471646c9" /><Relationship Type="http://schemas.openxmlformats.org/officeDocument/2006/relationships/slide" Target="/ppt/slides/slide8.xml" Id="R7c7d1bcfc6e74b89" /><Relationship Type="http://schemas.openxmlformats.org/officeDocument/2006/relationships/slide" Target="/ppt/slides/slide9.xml" Id="R4e17aa4f03e04270" /><Relationship Type="http://schemas.openxmlformats.org/officeDocument/2006/relationships/slide" Target="/ppt/slides/slide10.xml" Id="Raf0ff21fe94a4af5" /><Relationship Type="http://schemas.openxmlformats.org/officeDocument/2006/relationships/slide" Target="/ppt/slides/slide11.xml" Id="R5e82badb81534a2e" /><Relationship Type="http://schemas.openxmlformats.org/officeDocument/2006/relationships/slide" Target="/ppt/slides/slide12.xml" Id="R3adc2b06838b4a9c" /><Relationship Type="http://schemas.openxmlformats.org/officeDocument/2006/relationships/slide" Target="/ppt/slides/slide13.xml" Id="R6c132c75e7b94c87" /><Relationship Type="http://schemas.openxmlformats.org/officeDocument/2006/relationships/slide" Target="/ppt/slides/slide14.xml" Id="R482da6af043343e0" /><Relationship Type="http://schemas.openxmlformats.org/officeDocument/2006/relationships/slide" Target="/ppt/slides/slide15.xml" Id="R10bf8b76ba574c23" /><Relationship Type="http://schemas.openxmlformats.org/officeDocument/2006/relationships/slide" Target="/ppt/slides/slide16.xml" Id="Rd800ea7e68c8494f" /><Relationship Type="http://schemas.openxmlformats.org/officeDocument/2006/relationships/slide" Target="/ppt/slides/slide17.xml" Id="Ra25eca109dbf49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7af78b12af43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6e922b2eec49f4" /><Relationship Type="http://schemas.openxmlformats.org/officeDocument/2006/relationships/notesMaster" Target="/ppt/notesMasters/notesMaster1.xml" Id="Rafc37b12a82044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744cef686b4304" /><Relationship Type="http://schemas.openxmlformats.org/officeDocument/2006/relationships/notesMaster" Target="/ppt/notesMasters/notesMaster1.xml" Id="R74eadacf1b1b44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1727c231884a2a" /><Relationship Type="http://schemas.openxmlformats.org/officeDocument/2006/relationships/notesMaster" Target="/ppt/notesMasters/notesMaster1.xml" Id="R310d5615ab4d44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83eff28b38415e" /><Relationship Type="http://schemas.openxmlformats.org/officeDocument/2006/relationships/notesMaster" Target="/ppt/notesMasters/notesMaster1.xml" Id="Rddfd33ab6a354f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fa7dceedc14c2d" /><Relationship Type="http://schemas.openxmlformats.org/officeDocument/2006/relationships/notesMaster" Target="/ppt/notesMasters/notesMaster1.xml" Id="R9d2711bb7c5744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fc65ed7ec64871" /><Relationship Type="http://schemas.openxmlformats.org/officeDocument/2006/relationships/notesMaster" Target="/ppt/notesMasters/notesMaster1.xml" Id="R8d5d9aa6c1e04b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40b8b562374100" /><Relationship Type="http://schemas.openxmlformats.org/officeDocument/2006/relationships/notesMaster" Target="/ppt/notesMasters/notesMaster1.xml" Id="R13693c016edb47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b8987610f04c1d" /><Relationship Type="http://schemas.openxmlformats.org/officeDocument/2006/relationships/notesMaster" Target="/ppt/notesMasters/notesMaster1.xml" Id="R7b925179e41249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62be25fb2e4cc5" /><Relationship Type="http://schemas.openxmlformats.org/officeDocument/2006/relationships/notesMaster" Target="/ppt/notesMasters/notesMaster1.xml" Id="Rf8c98288f808404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360fe85e234983" /><Relationship Type="http://schemas.openxmlformats.org/officeDocument/2006/relationships/notesMaster" Target="/ppt/notesMasters/notesMaster1.xml" Id="Rb0d24dcda74845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c43716a18b4125" /><Relationship Type="http://schemas.openxmlformats.org/officeDocument/2006/relationships/notesMaster" Target="/ppt/notesMasters/notesMaster1.xml" Id="R3358d4f5973a42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33194a939a4c69" /><Relationship Type="http://schemas.openxmlformats.org/officeDocument/2006/relationships/notesMaster" Target="/ppt/notesMasters/notesMaster1.xml" Id="R07f507fdb1844c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fb96bf9d58457c" /><Relationship Type="http://schemas.openxmlformats.org/officeDocument/2006/relationships/notesMaster" Target="/ppt/notesMasters/notesMaster1.xml" Id="R439743cf4e2940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7bd49bb1e64584" /><Relationship Type="http://schemas.openxmlformats.org/officeDocument/2006/relationships/notesMaster" Target="/ppt/notesMasters/notesMaster1.xml" Id="R51f51c06dcef4e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b6c4fe32874b44" /><Relationship Type="http://schemas.openxmlformats.org/officeDocument/2006/relationships/notesMaster" Target="/ppt/notesMasters/notesMaster1.xml" Id="R02268e16f63547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350d0d453a4bcd" /><Relationship Type="http://schemas.openxmlformats.org/officeDocument/2006/relationships/notesMaster" Target="/ppt/notesMasters/notesMaster1.xml" Id="R16ef36f559974e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2235662b7b4784" /><Relationship Type="http://schemas.openxmlformats.org/officeDocument/2006/relationships/notesMaster" Target="/ppt/notesMasters/notesMaster1.xml" Id="Rdcb64f05678945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“Good morning. We are Team Ants from the University of Moratuwa. Our project is ClearanceX, an explainable document reconciliation assistant for shipping teams.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Before a declaration is prepared, someone must decide whether several documents tell the same story. We help that person identify conflicting evidence, understand the difference, and make a recorded decision.”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**Delivery:** Look at the judges. Introduce the team once. Avoid reading all names and the university label from the slide.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Repository baseline: 83ef75c; review 30 September 2026.</a:t>
            </a:r>
            <a:endParaRPr/>
          </a:p>
          <a:p xmlns:a="http://schemas.openxmlformats.org/drawingml/2006/main">
            <a:pPr marL="0" lvl="0" indent="0" algn="l">
              <a:spcBef>
                <a:spcPts val="0"/>
              </a:spcBef>
              <a:spcAft>
                <a:spcPts val="0"/>
              </a:spcAft>
              <a:buNone/>
            </a:pPr>
            <a:r>
              <a:t>Sources: User-supplied CodeSplash title slide.</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“For one shipment, an executive may receive a commercial invoice, a packing list, and an air waybill or bill of lading. These documents come from different parties, so names, units, and values can differ.</a:t>
            </a:r>
          </a:p>
          <a:p xmlns:a="http://schemas.openxmlformats.org/drawingml/2006/main">
            <a:r>
              <a:t/>
            </a:r>
          </a:p>
          <a:p xmlns:a="http://schemas.openxmlformats.org/drawingml/2006/main">
            <a:r>
              <a:t>The reviewer has to locate the relevant values, compare them, and decide which differences need clarification. Electronic customs systems already exist. We focus on the preparation work before submission, where document evidence still needs careful reconciliation.</a:t>
            </a:r>
          </a:p>
          <a:p xmlns:a="http://schemas.openxmlformats.org/drawingml/2006/main">
            <a:r>
              <a:t/>
            </a:r>
          </a:p>
          <a:p xmlns:a="http://schemas.openxmlformats.org/drawingml/2006/main">
            <a:r>
              <a:t>Our starting user is the shipping executive or broker working with English apparel-related dossiers.”</a:t>
            </a:r>
          </a:p>
          <a:p xmlns:a="http://schemas.openxmlformats.org/drawingml/2006/main">
            <a:r>
              <a:t/>
            </a:r>
          </a:p>
          <a:p xmlns:a="http://schemas.openxmlformats.org/drawingml/2006/main">
            <a:r>
              <a:t>**Emphasis:** The pain is the cross-checking decision. Do not claim the entire customs system is manual.</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README.md problem statement, narrowed to upstream preparation. Sri Lanka Customs ICT Directorate: https://www.customs.gov.lk/about-us/directorates-and-divisions/ict-directorate/ . Paperless pilot: https://www.customs.gov.lk/sri-lanka-customs-launches-pilot-program-on-paperless-submission-of-customs-declarations/ . Illustration: Docs/screen.png supplied in repository; conceptual artwork, not evidence of deployment.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“Here is a controlled example from our repository. The invoice says 450 kilograms. The packing list also says 450. The air waybill says 448.5.</a:t>
            </a:r>
          </a:p>
          <a:p xmlns:a="http://schemas.openxmlformats.org/drawingml/2006/main">
            <a:r>
              <a:t/>
            </a:r>
          </a:p>
          <a:p xmlns:a="http://schemas.openxmlformats.org/drawingml/2006/main">
            <a:r>
              <a:t>ClearanceX keeps all three assertions and proposes 450 as the consensus. It identifies the air waybill’s difference as 1.5 kilograms.</a:t>
            </a:r>
          </a:p>
          <a:p xmlns:a="http://schemas.openxmlformats.org/drawingml/2006/main">
            <a:r>
              <a:t/>
            </a:r>
          </a:p>
          <a:p xmlns:a="http://schemas.openxmlformats.org/drawingml/2006/main">
            <a:r>
              <a:t>But majority agreement does not establish the physical weight. The useful result is a specific question for the reviewer: which source should we verify? We preserve the disagreement so the reviewer can answer that question.”</a:t>
            </a:r>
          </a:p>
          <a:p xmlns:a="http://schemas.openxmlformats.org/drawingml/2006/main">
            <a:r>
              <a:t/>
            </a:r>
          </a:p>
          <a:p xmlns:a="http://schemas.openxmlformats.org/drawingml/2006/main">
            <a:r>
              <a:t>**Point:** Indicate each row, then the difference. Explain that this is a test example, not a customer outcome or a legal tolerance breach.</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backend/reasoning/test_entity_resolution.py::test_majority_value_becomes_consensus_and_outlier_is_preserved; backend/reasoning/entity_resolution.py. Numeric example is a fixture, not a customer outcome.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user uploads the shipment’s PDFs together. OCR reads text and locations. The pipeline classifies the document and extracts header fields, using local patterns first and a model fallback for missing information.</a:t>
            </a:r>
          </a:p>
          <a:p xmlns:a="http://schemas.openxmlformats.org/drawingml/2006/main">
            <a:r>
              <a:t/>
            </a:r>
          </a:p>
          <a:p xmlns:a="http://schemas.openxmlformats.org/drawingml/2006/main">
            <a:r>
              <a:t>We normalize those values and group the evidence into shipment fields. The review screen can then show the proposed value beside every source assertion.</a:t>
            </a:r>
          </a:p>
          <a:p xmlns:a="http://schemas.openxmlformats.org/drawingml/2006/main">
            <a:r>
              <a:t/>
            </a:r>
          </a:p>
          <a:p xmlns:a="http://schemas.openxmlformats.org/drawingml/2006/main">
            <a:r>
              <a:t>When the reviewer selects a verified value, we save that decision while preserving the original evidence. Finally, the readiness check explains what still needs attention before an XML export can be generated.”</a:t>
            </a:r>
          </a:p>
          <a:p xmlns:a="http://schemas.openxmlformats.org/drawingml/2006/main">
            <a:r>
              <a:t/>
            </a:r>
          </a:p>
          <a:p xmlns:a="http://schemas.openxmlformats.org/drawingml/2006/main">
            <a:r>
              <a:t>**Transition:** “The architecture supports that separation between interpreting a document and deciding how its evidence should be used.”</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backend/api/upload_router.py; backend/ai_pipeline/pipeline.py; backend/reasoning/entity_resolution.py; backend/api/routes.py review and export endpoints.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“React and TypeScript provide the review interface. FastAPI exposes the dossier and review endpoints. PostgreSQL stores extraction results and reviewer decisions.</a:t>
            </a:r>
          </a:p>
          <a:p xmlns:a="http://schemas.openxmlformats.org/drawingml/2006/main">
            <a:r>
              <a:t/>
            </a:r>
          </a:p>
          <a:p xmlns:a="http://schemas.openxmlformats.org/drawingml/2006/main">
            <a:r>
              <a:t>PaddleOCR and optional model calls handle document interpretation. NetworkX connects documents, assertions, and canonical fields. Explicit rules produce discrepancy results, and the XAI compiler turns those into explanations.</a:t>
            </a:r>
          </a:p>
          <a:p xmlns:a="http://schemas.openxmlformats.org/drawingml/2006/main">
            <a:r>
              <a:t/>
            </a:r>
          </a:p>
          <a:p xmlns:a="http://schemas.openxmlformats.org/drawingml/2006/main">
            <a:r>
              <a:t>This is a hybrid design: uncertain extraction supplies evidence, while explicit application logic performs the comparison. Docker Compose defines the services for local evaluation.”</a:t>
            </a:r>
          </a:p>
          <a:p xmlns:a="http://schemas.openxmlformats.org/drawingml/2006/main">
            <a:r>
              <a:t/>
            </a:r>
          </a:p>
          <a:p xmlns:a="http://schemas.openxmlformats.org/drawingml/2006/main">
            <a:r>
              <a:t>**Avoid:** Claiming a graph neural network, a custom-trained LLM, or a fully parallel durable worker system.</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frontend/package.json; backend/requirements.txt; backend/main.py; backend/ai_pipeline/entity_extractor.py; backend/reasoning/knowledge_builder.py; docker-compose.yml. Active classification is keyword-based. OpenAI vision wrapper defaults to configured fast_model. No GNN or model training claim.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“A discrepancy needs more than a red warning. Our active explanation payload has four layers.</a:t>
            </a:r>
          </a:p>
          <a:p xmlns:a="http://schemas.openxmlformats.org/drawingml/2006/main">
            <a:r>
              <a:t/>
            </a:r>
          </a:p>
          <a:p xmlns:a="http://schemas.openxmlformats.org/drawingml/2006/main">
            <a:r>
              <a:t>First, provenance identifies the source documents, snippets, and locations. Second, the rule explanation shows the values compared and the difference. Third, confidence provides an uncertainty indicator. Fourth, the counterfactual explains what change would make the selected values agree.</a:t>
            </a:r>
          </a:p>
          <a:p xmlns:a="http://schemas.openxmlformats.org/drawingml/2006/main">
            <a:r>
              <a:t/>
            </a:r>
          </a:p>
          <a:p xmlns:a="http://schemas.openxmlformats.org/drawingml/2006/main">
            <a:r>
              <a:t>For our example, adding 1.5 kilograms to one value would remove the mismatch. That is a mathematical condition, not an instruction to alter a document without verification.</a:t>
            </a:r>
          </a:p>
          <a:p xmlns:a="http://schemas.openxmlformats.org/drawingml/2006/main">
            <a:r>
              <a:t/>
            </a:r>
          </a:p>
          <a:p xmlns:a="http://schemas.openxmlformats.org/drawingml/2006/main">
            <a:r>
              <a:t>The current confidence scores are heuristics. We have identified calibration and input-propagation work before those scores could support probability claims.”</a:t>
            </a:r>
          </a:p>
          <a:p xmlns:a="http://schemas.openxmlformats.org/drawingml/2006/main">
            <a:r>
              <a:t/>
            </a:r>
          </a:p>
          <a:p xmlns:a="http://schemas.openxmlformats.org/drawingml/2006/main">
            <a:r>
              <a:t>**Delivery:** Slow down on the distinction between a proposed correction and verified truth.</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backend/reasoning/xai_compiler.py; backend/ai_pipeline/confidence.py; backend/xai_types.py. These are application-level explanations, not model chain-of-thought. Confidence is not calibrated probability.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Use a **preprocessed dossier** whose exact data and interactions you have rehearsed. A real cached dossier and the explicit mock demo are different. State which one you use. Do not depend on live model latency.</a:t>
            </a:r>
          </a:p>
          <a:p xmlns:a="http://schemas.openxmlformats.org/drawingml/2006/main">
            <a:r>
              <a:t/>
            </a:r>
          </a:p>
          <a:p xmlns:a="http://schemas.openxmlformats.org/drawingml/2006/main">
            <a:r>
              <a:t>**0–15 seconds: identify the dossier.**  </a:t>
            </a:r>
          </a:p>
          <a:p xmlns:a="http://schemas.openxmlformats.org/drawingml/2006/main">
            <a:r>
              <a:t>“This is our [preprocessed test dossier / explicitly labeled demo fixture]. We are using prepared data so we can spend the demonstration on the review decision.”</a:t>
            </a:r>
          </a:p>
          <a:p xmlns:a="http://schemas.openxmlformats.org/drawingml/2006/main">
            <a:r>
              <a:t/>
            </a:r>
          </a:p>
          <a:p xmlns:a="http://schemas.openxmlformats.org/drawingml/2006/main">
            <a:r>
              <a:t>**15–40 seconds: show the conflict.**  </a:t>
            </a:r>
          </a:p>
          <a:p xmlns:a="http://schemas.openxmlformats.org/drawingml/2006/main">
            <a:r>
              <a:t>“These are the source assertions for gross weight. The proposed value is here, and this source disagrees. We can compare the extracted value with the original test PDF, which we have opened separately.”</a:t>
            </a:r>
          </a:p>
          <a:p xmlns:a="http://schemas.openxmlformats.org/drawingml/2006/main">
            <a:r>
              <a:t/>
            </a:r>
          </a:p>
          <a:p xmlns:a="http://schemas.openxmlformats.org/drawingml/2006/main">
            <a:r>
              <a:t>The current Review Workspace shows extracted fields and page labels. It does not implement the original-PDF viewer with bbox overlays described in older documents. Pre-open the relevant source PDF separately if you want to show the physical source.</a:t>
            </a:r>
          </a:p>
          <a:p xmlns:a="http://schemas.openxmlformats.org/drawingml/2006/main">
            <a:r>
              <a:t/>
            </a:r>
          </a:p>
          <a:p xmlns:a="http://schemas.openxmlformats.org/drawingml/2006/main">
            <a:r>
              <a:t>**40–60 seconds: show explanation.**  </a:t>
            </a:r>
          </a:p>
          <a:p xmlns:a="http://schemas.openxmlformats.org/drawingml/2006/main">
            <a:r>
              <a:t>“The explanation names the comparison and the difference. It also retains the evidence needed for a reviewer to check the result.”</a:t>
            </a:r>
          </a:p>
          <a:p xmlns:a="http://schemas.openxmlformats.org/drawingml/2006/main">
            <a:r>
              <a:t/>
            </a:r>
          </a:p>
          <a:p xmlns:a="http://schemas.openxmlformats.org/drawingml/2006/main">
            <a:r>
              <a:t>**60–80 seconds: perform the rehearsed action.**  </a:t>
            </a:r>
          </a:p>
          <a:p xmlns:a="http://schemas.openxmlformats.org/drawingml/2006/main">
            <a:r>
              <a:t>“After checking the source, the reviewer can select a verified value and record a reason. The original assertions remain available.”</a:t>
            </a:r>
          </a:p>
          <a:p xmlns:a="http://schemas.openxmlformats.org/drawingml/2006/main">
            <a:r>
              <a:t/>
            </a:r>
          </a:p>
          <a:p xmlns:a="http://schemas.openxmlformats.org/drawingml/2006/main">
            <a:r>
              <a:t>Only save if this is an authorized test dossier with working persistence. Do not pretend a mock demo ID has the same save behavior as a stored UUID dossier. If persistence is not verified, demonstrate the evidence and clearly describe the implemented save endpoint without clicking an untested action.</a:t>
            </a:r>
          </a:p>
          <a:p xmlns:a="http://schemas.openxmlformats.org/drawingml/2006/main">
            <a:r>
              <a:t/>
            </a:r>
          </a:p>
          <a:p xmlns:a="http://schemas.openxmlformats.org/drawingml/2006/main">
            <a:r>
              <a:t>**80–100 seconds: show readiness.**  </a:t>
            </a:r>
          </a:p>
          <a:p xmlns:a="http://schemas.openxmlformats.org/drawingml/2006/main">
            <a:r>
              <a:t>“Resolving this field does not mean the whole declaration is ready. The readiness view still lists missing or unresolved requirements. That makes the remaining work explicit.”</a:t>
            </a:r>
          </a:p>
          <a:p xmlns:a="http://schemas.openxmlformats.org/drawingml/2006/main">
            <a:r>
              <a:t/>
            </a:r>
          </a:p>
          <a:p xmlns:a="http://schemas.openxmlformats.org/drawingml/2006/main">
            <a:r>
              <a:t>If the runtime fails, say once: “The live run is unavailable. I’ll use our clearly labeled backup to show the same evidence flow.” Return to the deck’s worked example and readiness slide. Never call that a successful live run.</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Presentation_&amp;_Viva/ClearanceX_Demo_and_Final_Day_Checklist.md; frontend/src/components/review/KeyFieldReconciliationPanel.tsx; backend/api/routes.py. Use a rehearsed UUID dossier for persistence. A live run was not verified while preparing this deck.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gate checks required document fields, declaration metadata, and goods rows. A required value that is missing, conflicting, or still pending prevents export. The backend also enforces that gate, rather than relying only on a disabled button.</a:t>
            </a:r>
          </a:p>
          <a:p xmlns:a="http://schemas.openxmlformats.org/drawingml/2006/main">
            <a:r>
              <a:t/>
            </a:r>
          </a:p>
          <a:p xmlns:a="http://schemas.openxmlformats.org/drawingml/2006/main">
            <a:r>
              <a:t>The current serializer produces XML from a user-confirmed compatibility template. We have a structure test, but we have not demonstrated official schema validation or an accepted customs import.</a:t>
            </a:r>
          </a:p>
          <a:p xmlns:a="http://schemas.openxmlformats.org/drawingml/2006/main">
            <a:r>
              <a:t/>
            </a:r>
          </a:p>
          <a:p xmlns:a="http://schemas.openxmlformats.org/drawingml/2006/main">
            <a:r>
              <a:t>Our next integration step is to validate the relevant mappings and item-level details with a broker and the permitted target workflow.”</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backend/reasoning/cusdec_readiness.py; backend/reasoning/cusdec_xml.py TEMPLATE_VERSION=user-confirmed-asycuda-template-v1; backend/api/routes.py::export_asycuda (HTTP 422 blockers). Current gate is incomplete domain validation.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have checked the implementation rather than treating the README as proof. The frontend production build passes. In the selected backend checks for this review, fifteen of sixteen existing pure tests passed. One party-role test disagrees with the current heuristic’s expected classification.</a:t>
            </a:r>
          </a:p>
          <a:p xmlns:a="http://schemas.openxmlformats.org/drawingml/2006/main">
            <a:r>
              <a:t/>
            </a:r>
          </a:p>
          <a:p xmlns:a="http://schemas.openxmlformats.org/drawingml/2006/main">
            <a:r>
              <a:t>The full Docker and OCR journey still needs a clean final rehearsal. Unit tests demonstrate specific behavior, such as preserving an outlier and blocking pending fields. They do not establish model accuracy on unseen customer documents.”</a:t>
            </a:r>
          </a:p>
          <a:p xmlns:a="http://schemas.openxmlformats.org/drawingml/2006/main">
            <a:r>
              <a:t/>
            </a:r>
          </a:p>
          <a:p xmlns:a="http://schemas.openxmlformats.org/drawingml/2006/main">
            <a:r>
              <a:t>**Update rule:** Replace these results only after rerunning the relevant checks and saving actual output. If the environment is repaired before the event, use the new verified result and date.</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Review commands: npm run build passed (frontend). Direct invocation of 16 existing no-fixture functions from test_entity_resolution.py, test_cusdec_readiness.py, test_cusdec_xml.py, test_party_roles.py: 15 pass / 1 fail. Failure: test_unlabelled_organisation_is_not_emitted_as_a_consignee. Full pytest blocked by unrelated local py.py. Docker engine unavailable; local venv lacks openai. Update only after new verified checks.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are clear about the prototype boundary. Authentication is simulated, and the runtime audit trail needs durable event recording. Confidence needs measured inputs and calibration. Automatic goods-table integration and item-level export mappings also need further work.</a:t>
            </a:r>
          </a:p>
          <a:p xmlns:a="http://schemas.openxmlformats.org/drawingml/2006/main">
            <a:r>
              <a:t/>
            </a:r>
          </a:p>
          <a:p xmlns:a="http://schemas.openxmlformats.org/drawingml/2006/main">
            <a:r>
              <a:t>These limitations shape our priorities. First, make failure states and review decisions reliable. Before real customer data, add access control and upload protection. Then validate export behavior and measure performance on diverse dossiers.</a:t>
            </a:r>
          </a:p>
          <a:p xmlns:a="http://schemas.openxmlformats.org/drawingml/2006/main">
            <a:r>
              <a:t/>
            </a:r>
          </a:p>
          <a:p xmlns:a="http://schemas.openxmlformats.org/drawingml/2006/main">
            <a:r>
              <a:t>The contribution we demonstrate today is a traceable review workflow with explicit evidence.”</a:t>
            </a:r>
          </a:p>
          <a:p xmlns:a="http://schemas.openxmlformats.org/drawingml/2006/main">
            <a:r>
              <a:t/>
            </a:r>
          </a:p>
          <a:p xmlns:a="http://schemas.openxmlformats.org/drawingml/2006/main">
            <a:r>
              <a:t>**Tone:** Calm and specific. This is engineering judgment, not an apology. Do not spend all 45 seconds enumerating every risk.</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frontend/src/components/screens/ScreenAuth.tsx; backend/reasoning/audit_trail.py; backend/ai_pipeline/confidence.py; backend/reasoning/cusdec_xml.py. Security: backend/main.py public uploads; backend/api/upload_router.py path/size validation gaps. No claim of production readiness.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“We would test the next version with a broker or apparel shipping team using permissioned, redacted dossiers. We would compare manual and assisted review on comparable cases.</a:t>
            </a:r>
          </a:p>
          <a:p xmlns:a="http://schemas.openxmlformats.org/drawingml/2006/main">
            <a:r>
              <a:t/>
            </a:r>
          </a:p>
          <a:p xmlns:a="http://schemas.openxmlformats.org/drawingml/2006/main">
            <a:r>
              <a:t>The important outcomes are review time, missed conflicts, false alerts, evidence-location accuracy, and cases incorrectly marked ready. We would also measure processing latency and total cost per dossier.</a:t>
            </a:r>
          </a:p>
          <a:p xmlns:a="http://schemas.openxmlformats.org/drawingml/2006/main">
            <a:r>
              <a:t/>
            </a:r>
          </a:p>
          <a:p xmlns:a="http://schemas.openxmlformats.org/drawingml/2006/main">
            <a:r>
              <a:t>A team subscription or per-dossier service is a commercial hypothesis. We will base that on demonstrated operational value and customer willingness to pay, rather than assume that a low model cost makes the product viable.”</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Proposed evaluation and business hypotheses, not measured results. See ClearanceX_Ultimate_Project_and_Viva_Guide.md sections 8 and 9. Target user hypothesis comes from README.md. No customer, revenue, savings, or official integration claim.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“ClearanceX makes the evidence behind a shipment value visible. It helps the reviewer see the conflict, understand the comparison, and record a decision before export preparation.</a:t>
            </a:r>
          </a:p>
          <a:p xmlns:a="http://schemas.openxmlformats.org/drawingml/2006/main">
            <a:r>
              <a:t/>
            </a:r>
          </a:p>
          <a:p xmlns:a="http://schemas.openxmlformats.org/drawingml/2006/main">
            <a:r>
              <a:t>Our next ask is a broker pilot with permissioned dossiers so we can validate the workflow and its results.</a:t>
            </a:r>
          </a:p>
          <a:p xmlns:a="http://schemas.openxmlformats.org/drawingml/2006/main">
            <a:r>
              <a:t/>
            </a:r>
          </a:p>
          <a:p xmlns:a="http://schemas.openxmlformats.org/drawingml/2006/main">
            <a:r>
              <a:t>We are Team Ants. Thank you. We welcome your questions.”</a:t>
            </a:r>
          </a:p>
          <a:p xmlns:a="http://schemas.openxmlformats.org/drawingml/2006/main">
            <a:r>
              <a:t/>
            </a:r>
          </a:p>
          <a:p xmlns:a="http://schemas.openxmlformats.org/drawingml/2006/main">
            <a:r>
              <a:t>**Then stop.** Leave the closing slide visible. Do not automatically walk through the backup slides.</a:t>
            </a:r>
          </a:p>
          <a:p xmlns:a="http://schemas.openxmlformats.org/drawingml/2006/main">
            <a:r>
              <a:t/>
            </a:r>
          </a:p>
          <a:p xmlns:a="http://schemas.openxmlformats.org/drawingml/2006/main">
            <a:r>
              <a:t/>
            </a:r>
          </a:p>
          <a:p xmlns:a="http://schemas.openxmlformats.org/drawingml/2006/main">
            <a:r>
              <a:t>Repository baseline: 83ef75c; review 30 September 2026.</a:t>
            </a:r>
          </a:p>
          <a:p xmlns:a="http://schemas.openxmlformats.org/drawingml/2006/main">
            <a:r>
              <a:t>Sources: Synthesis of implemented canonical resolution, XAI payload, and review workflow. Pilot remains proposed.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to explain provenance, consensus, and why a reviewer must verify authority.</a:t>
            </a:r>
          </a:p>
          <a:p xmlns:a="http://schemas.openxmlformats.org/drawingml/2006/main">
            <a:r>
              <a:t/>
            </a:r>
          </a:p>
          <a:p xmlns:a="http://schemas.openxmlformats.org/drawingml/2006/main">
            <a:r>
              <a:t>Repository baseline: 83ef75c; review 30 September 2026.</a:t>
            </a:r>
          </a:p>
          <a:p xmlns:a="http://schemas.openxmlformats.org/drawingml/2006/main">
            <a:r>
              <a:t>Sources: backend/reasoning/knowledge_builder.py; backend/reasoning/entity_resolution.py. Edges: HAS_FIELD, CONTAINS, ASSERTS_VALUE_FOR. Consensus selects largest cluster, then confidence sum. Duplicate sources can inflate corroboration.</a:t>
            </a:r>
          </a:p>
          <a:p xmlns:a="http://schemas.openxmlformats.org/drawingml/2006/main">
            <a:r>
              <a:t>Use to explain provenance, consensus, and why a reviewer must verify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not a calibrated joint probability. Do not present confidence as accuracy.</a:t>
            </a:r>
          </a:p>
          <a:p xmlns:a="http://schemas.openxmlformats.org/drawingml/2006/main">
            <a:r>
              <a:t/>
            </a:r>
          </a:p>
          <a:p xmlns:a="http://schemas.openxmlformats.org/drawingml/2006/main">
            <a:r>
              <a:t>Repository baseline: 83ef75c; review 30 September 2026.</a:t>
            </a:r>
          </a:p>
          <a:p xmlns:a="http://schemas.openxmlformats.org/drawingml/2006/main">
            <a:r>
              <a:t>Sources: backend/ai_pipeline/confidence.py (cap 0.95); backend/ai_pipeline/pipeline.py entity serialization omits OCR confidence and bbox ratio; backend/reasoning/xai_compiler.py product formula. Normalization warning factor is 0.85 or 1.0.</a:t>
            </a:r>
          </a:p>
          <a:p xmlns:a="http://schemas.openxmlformats.org/drawingml/2006/main">
            <a:r>
              <a:t>The product is not a calibrated joint probability. Do not present confidence as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blocked export first, then the template and validation limit.</a:t>
            </a:r>
          </a:p>
          <a:p xmlns:a="http://schemas.openxmlformats.org/drawingml/2006/main">
            <a:r>
              <a:t/>
            </a:r>
          </a:p>
          <a:p xmlns:a="http://schemas.openxmlformats.org/drawingml/2006/main">
            <a:r>
              <a:t>Repository baseline: 83ef75c; review 30 September 2026.</a:t>
            </a:r>
          </a:p>
          <a:p xmlns:a="http://schemas.openxmlformats.org/drawingml/2006/main">
            <a:r>
              <a:t>Sources: backend/reasoning/cusdec_readiness.py; backend/reasoning/cusdec_xml.py; backend/reasoning/test_cusdec_xml.py. Manifest reference is required but not serialized. Country conversion only accepts two-character values. Sri Lanka Customs ICT Directorate lists XML-message guidance: https://www.customs.gov.lk/about-us/directorates-and-divisions/ict-directorate/ .</a:t>
            </a:r>
          </a:p>
          <a:p xmlns:a="http://schemas.openxmlformats.org/drawingml/2006/main">
            <a:r>
              <a:t>Explain blocked export first, then the template and validation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to discuss risk prioritization without claiming the current app is secure or production ready.</a:t>
            </a:r>
          </a:p>
          <a:p xmlns:a="http://schemas.openxmlformats.org/drawingml/2006/main">
            <a:r>
              <a:t/>
            </a:r>
          </a:p>
          <a:p xmlns:a="http://schemas.openxmlformats.org/drawingml/2006/main">
            <a:r>
              <a:t>Repository baseline: 83ef75c; review 30 September 2026.</a:t>
            </a:r>
          </a:p>
          <a:p xmlns:a="http://schemas.openxmlformats.org/drawingml/2006/main">
            <a:r>
              <a:t>Sources: Static review: backend/main.py; backend/api/upload_router.py; backend/ai_pipeline/dossier_manager.py; backend/api/routes.py; backend/reasoning/audit_trail.py; backend/reasoning/cusdec_xml.py. No exploit attempts.</a:t>
            </a:r>
          </a:p>
          <a:p xmlns:a="http://schemas.openxmlformats.org/drawingml/2006/main">
            <a:r>
              <a:t>Use to discuss risk prioritization without claiming the current app is secure or production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extraction quality from rule quality and end-to-end readiness. Do not infer accuracy from unit-test pass rate.</a:t>
            </a:r>
          </a:p>
          <a:p xmlns:a="http://schemas.openxmlformats.org/drawingml/2006/main">
            <a:r>
              <a:t/>
            </a:r>
          </a:p>
          <a:p xmlns:a="http://schemas.openxmlformats.org/drawingml/2006/main">
            <a:r>
              <a:t>Repository baseline: 83ef75c; review 30 September 2026.</a:t>
            </a:r>
          </a:p>
          <a:p xmlns:a="http://schemas.openxmlformats.org/drawingml/2006/main">
            <a:r>
              <a:t>Sources: Proposed evaluation design, not existing results. See ClearanceX_Ultimate_Project_and_Viva_Guide.md section 8.</a:t>
            </a:r>
          </a:p>
          <a:p xmlns:a="http://schemas.openxmlformats.org/drawingml/2006/main">
            <a:r>
              <a:t>Separate extraction quality from rule quality and end-to-end readiness. Do not infer accuracy from unit-test pass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9002356ba64b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5e0876a0624f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2a091e31bd41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af6769799744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1ce5c4dd4244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0d2317f5f74ea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21ffe697e24d4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bb0c831d6764c2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e66a978b58d4e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999f31884b7443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cece9d7f122481f"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3FFA9F3B-958F-46FA-B28A-5A5FB5CA35E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3" name="Google Shape;13;p3">
            <a:extLst xmlns:a="http://schemas.openxmlformats.org/drawingml/2006/main">
              <a:ext uri="{FF2B5EF4-FFF2-40B4-BE49-F238E27FC236}">
                <a16:creationId xmlns:a16="http://schemas.microsoft.com/office/drawing/2014/main" id="{8D4D3B63-AAAB-4FD2-A540-E2A7F6EF8C4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4" name="Google Shape;14;p3">
            <a:extLst xmlns:a="http://schemas.openxmlformats.org/drawingml/2006/main">
              <a:ext uri="{FF2B5EF4-FFF2-40B4-BE49-F238E27FC236}">
                <a16:creationId xmlns:a16="http://schemas.microsoft.com/office/drawing/2014/main" id="{54007C34-3353-4177-82A2-F384A0DAE50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D3C62E51-4FF4-46FB-A191-372BAB26676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17" name="Google Shape;17;p4">
            <a:extLst xmlns:a="http://schemas.openxmlformats.org/drawingml/2006/main">
              <a:ext uri="{FF2B5EF4-FFF2-40B4-BE49-F238E27FC236}">
                <a16:creationId xmlns:a16="http://schemas.microsoft.com/office/drawing/2014/main" id="{6E9B5CFE-AD54-4A7D-A138-851A65CB0753}"/>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4">
            <a:extLst xmlns:a="http://schemas.openxmlformats.org/drawingml/2006/main">
              <a:ext uri="{FF2B5EF4-FFF2-40B4-BE49-F238E27FC236}">
                <a16:creationId xmlns:a16="http://schemas.microsoft.com/office/drawing/2014/main" id="{B02EB00F-9196-4BF8-A872-47C2E39BA31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9" name="Google Shape;19;p4">
            <a:extLst xmlns:a="http://schemas.openxmlformats.org/drawingml/2006/main">
              <a:ext uri="{FF2B5EF4-FFF2-40B4-BE49-F238E27FC236}">
                <a16:creationId xmlns:a16="http://schemas.microsoft.com/office/drawing/2014/main" id="{B4CF4A6F-8D43-45D7-A8C2-89E96A3CF59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0" name="Google Shape;20;p4">
            <a:extLst xmlns:a="http://schemas.openxmlformats.org/drawingml/2006/main">
              <a:ext uri="{FF2B5EF4-FFF2-40B4-BE49-F238E27FC236}">
                <a16:creationId xmlns:a16="http://schemas.microsoft.com/office/drawing/2014/main" id="{30181D68-D7BC-4F61-91DC-468E4D9ED2E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5">
            <a:extLst xmlns:a="http://schemas.openxmlformats.org/drawingml/2006/main">
              <a:ext uri="{FF2B5EF4-FFF2-40B4-BE49-F238E27FC236}">
                <a16:creationId xmlns:a16="http://schemas.microsoft.com/office/drawing/2014/main" id="{8F914CA3-5D6E-4192-A2FE-CE145627688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3" name="Google Shape;23;p5">
            <a:extLst xmlns:a="http://schemas.openxmlformats.org/drawingml/2006/main">
              <a:ext uri="{FF2B5EF4-FFF2-40B4-BE49-F238E27FC236}">
                <a16:creationId xmlns:a16="http://schemas.microsoft.com/office/drawing/2014/main" id="{C7852054-E3DA-45FD-B7C1-72BEC66C720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24" name="Google Shape;24;p5">
            <a:extLst xmlns:a="http://schemas.openxmlformats.org/drawingml/2006/main">
              <a:ext uri="{FF2B5EF4-FFF2-40B4-BE49-F238E27FC236}">
                <a16:creationId xmlns:a16="http://schemas.microsoft.com/office/drawing/2014/main" id="{9BB78DF7-6733-4EFD-9788-E01939D38AB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5" name="Google Shape;25;p5">
            <a:extLst xmlns:a="http://schemas.openxmlformats.org/drawingml/2006/main">
              <a:ext uri="{FF2B5EF4-FFF2-40B4-BE49-F238E27FC236}">
                <a16:creationId xmlns:a16="http://schemas.microsoft.com/office/drawing/2014/main" id="{576A9139-9267-4C70-965E-64BB9D11C37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6" name="Google Shape;26;p5">
            <a:extLst xmlns:a="http://schemas.openxmlformats.org/drawingml/2006/main">
              <a:ext uri="{FF2B5EF4-FFF2-40B4-BE49-F238E27FC236}">
                <a16:creationId xmlns:a16="http://schemas.microsoft.com/office/drawing/2014/main" id="{C408AF41-6A53-4BC9-AF9D-0B09FF5E1C9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6">
            <a:extLst xmlns:a="http://schemas.openxmlformats.org/drawingml/2006/main">
              <a:ext uri="{FF2B5EF4-FFF2-40B4-BE49-F238E27FC236}">
                <a16:creationId xmlns:a16="http://schemas.microsoft.com/office/drawing/2014/main" id="{A89987B8-2612-468C-8B9C-45247A9E2E59}"/>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9" name="Google Shape;29;p6">
            <a:extLst xmlns:a="http://schemas.openxmlformats.org/drawingml/2006/main">
              <a:ext uri="{FF2B5EF4-FFF2-40B4-BE49-F238E27FC236}">
                <a16:creationId xmlns:a16="http://schemas.microsoft.com/office/drawing/2014/main" id="{0AC96133-A66C-4787-BC06-025C84F8015F}"/>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6">
            <a:extLst xmlns:a="http://schemas.openxmlformats.org/drawingml/2006/main">
              <a:ext uri="{FF2B5EF4-FFF2-40B4-BE49-F238E27FC236}">
                <a16:creationId xmlns:a16="http://schemas.microsoft.com/office/drawing/2014/main" id="{8AFD0A4A-E0F0-41E3-9C50-AAD45FDFC96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1" name="Google Shape;31;p6">
            <a:extLst xmlns:a="http://schemas.openxmlformats.org/drawingml/2006/main">
              <a:ext uri="{FF2B5EF4-FFF2-40B4-BE49-F238E27FC236}">
                <a16:creationId xmlns:a16="http://schemas.microsoft.com/office/drawing/2014/main" id="{7A49BE97-D62D-4956-898B-9215ED22125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2" name="Google Shape;32;p6">
            <a:extLst xmlns:a="http://schemas.openxmlformats.org/drawingml/2006/main">
              <a:ext uri="{FF2B5EF4-FFF2-40B4-BE49-F238E27FC236}">
                <a16:creationId xmlns:a16="http://schemas.microsoft.com/office/drawing/2014/main" id="{F3333B08-B818-4D30-BD0F-73567895D02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7">
            <a:extLst xmlns:a="http://schemas.openxmlformats.org/drawingml/2006/main">
              <a:ext uri="{FF2B5EF4-FFF2-40B4-BE49-F238E27FC236}">
                <a16:creationId xmlns:a16="http://schemas.microsoft.com/office/drawing/2014/main" id="{19641763-3ABE-4E8B-AE91-1625510A866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35" name="Google Shape;35;p7">
            <a:extLst xmlns:a="http://schemas.openxmlformats.org/drawingml/2006/main">
              <a:ext uri="{FF2B5EF4-FFF2-40B4-BE49-F238E27FC236}">
                <a16:creationId xmlns:a16="http://schemas.microsoft.com/office/drawing/2014/main" id="{5DE81FBF-30CE-4478-B9B5-F9A8F28BFA33}"/>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7">
            <a:extLst xmlns:a="http://schemas.openxmlformats.org/drawingml/2006/main">
              <a:ext uri="{FF2B5EF4-FFF2-40B4-BE49-F238E27FC236}">
                <a16:creationId xmlns:a16="http://schemas.microsoft.com/office/drawing/2014/main" id="{7ED790D4-D4C9-414C-A7F6-43B3EC33A957}"/>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7">
            <a:extLst xmlns:a="http://schemas.openxmlformats.org/drawingml/2006/main">
              <a:ext uri="{FF2B5EF4-FFF2-40B4-BE49-F238E27FC236}">
                <a16:creationId xmlns:a16="http://schemas.microsoft.com/office/drawing/2014/main" id="{613DA0E5-0759-4781-9C20-E2F30255AC2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8" name="Google Shape;38;p7">
            <a:extLst xmlns:a="http://schemas.openxmlformats.org/drawingml/2006/main">
              <a:ext uri="{FF2B5EF4-FFF2-40B4-BE49-F238E27FC236}">
                <a16:creationId xmlns:a16="http://schemas.microsoft.com/office/drawing/2014/main" id="{C31A3E06-08EB-4FAC-8669-201701629D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9" name="Google Shape;39;p7">
            <a:extLst xmlns:a="http://schemas.openxmlformats.org/drawingml/2006/main">
              <a:ext uri="{FF2B5EF4-FFF2-40B4-BE49-F238E27FC236}">
                <a16:creationId xmlns:a16="http://schemas.microsoft.com/office/drawing/2014/main" id="{57E800A0-B4AD-4525-ABA1-8D277063764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8">
            <a:extLst xmlns:a="http://schemas.openxmlformats.org/drawingml/2006/main">
              <a:ext uri="{FF2B5EF4-FFF2-40B4-BE49-F238E27FC236}">
                <a16:creationId xmlns:a16="http://schemas.microsoft.com/office/drawing/2014/main" id="{084B528F-E3D0-4BE7-A3DC-61B4E1DA7DE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42" name="Google Shape;42;p8">
            <a:extLst xmlns:a="http://schemas.openxmlformats.org/drawingml/2006/main">
              <a:ext uri="{FF2B5EF4-FFF2-40B4-BE49-F238E27FC236}">
                <a16:creationId xmlns:a16="http://schemas.microsoft.com/office/drawing/2014/main" id="{C6F050B8-DB42-419B-8DDD-4AC4AACE28DA}"/>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8">
            <a:extLst xmlns:a="http://schemas.openxmlformats.org/drawingml/2006/main">
              <a:ext uri="{FF2B5EF4-FFF2-40B4-BE49-F238E27FC236}">
                <a16:creationId xmlns:a16="http://schemas.microsoft.com/office/drawing/2014/main" id="{D0E543CE-4C00-47DC-B141-CA97E647B882}"/>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8">
            <a:extLst xmlns:a="http://schemas.openxmlformats.org/drawingml/2006/main">
              <a:ext uri="{FF2B5EF4-FFF2-40B4-BE49-F238E27FC236}">
                <a16:creationId xmlns:a16="http://schemas.microsoft.com/office/drawing/2014/main" id="{BB6C5F81-3DCD-40C0-A974-7F2BD7948908}"/>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8">
            <a:extLst xmlns:a="http://schemas.openxmlformats.org/drawingml/2006/main">
              <a:ext uri="{FF2B5EF4-FFF2-40B4-BE49-F238E27FC236}">
                <a16:creationId xmlns:a16="http://schemas.microsoft.com/office/drawing/2014/main" id="{36CF45C5-209F-4152-B34F-8695A871068C}"/>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8">
            <a:extLst xmlns:a="http://schemas.openxmlformats.org/drawingml/2006/main">
              <a:ext uri="{FF2B5EF4-FFF2-40B4-BE49-F238E27FC236}">
                <a16:creationId xmlns:a16="http://schemas.microsoft.com/office/drawing/2014/main" id="{9072AF50-9211-48E6-AAED-089E1003C16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7" name="Google Shape;47;p8">
            <a:extLst xmlns:a="http://schemas.openxmlformats.org/drawingml/2006/main">
              <a:ext uri="{FF2B5EF4-FFF2-40B4-BE49-F238E27FC236}">
                <a16:creationId xmlns:a16="http://schemas.microsoft.com/office/drawing/2014/main" id="{605C80C8-969D-4D12-B969-832D766E9E7C}"/>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8" name="Google Shape;48;p8">
            <a:extLst xmlns:a="http://schemas.openxmlformats.org/drawingml/2006/main">
              <a:ext uri="{FF2B5EF4-FFF2-40B4-BE49-F238E27FC236}">
                <a16:creationId xmlns:a16="http://schemas.microsoft.com/office/drawing/2014/main" id="{34083408-8227-46F9-90A7-6CF44442266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9">
            <a:extLst xmlns:a="http://schemas.openxmlformats.org/drawingml/2006/main">
              <a:ext uri="{FF2B5EF4-FFF2-40B4-BE49-F238E27FC236}">
                <a16:creationId xmlns:a16="http://schemas.microsoft.com/office/drawing/2014/main" id="{B8BEB38B-DAAF-446A-A39C-E1367A64C77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1" name="Google Shape;51;p9">
            <a:extLst xmlns:a="http://schemas.openxmlformats.org/drawingml/2006/main">
              <a:ext uri="{FF2B5EF4-FFF2-40B4-BE49-F238E27FC236}">
                <a16:creationId xmlns:a16="http://schemas.microsoft.com/office/drawing/2014/main" id="{4B235896-B9ED-4299-84E7-C8EBAC89923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2" name="Google Shape;52;p9">
            <a:extLst xmlns:a="http://schemas.openxmlformats.org/drawingml/2006/main">
              <a:ext uri="{FF2B5EF4-FFF2-40B4-BE49-F238E27FC236}">
                <a16:creationId xmlns:a16="http://schemas.microsoft.com/office/drawing/2014/main" id="{B2B3319D-88E0-4299-9CA2-5E8AF414CE8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3" name="Google Shape;53;p9">
            <a:extLst xmlns:a="http://schemas.openxmlformats.org/drawingml/2006/main">
              <a:ext uri="{FF2B5EF4-FFF2-40B4-BE49-F238E27FC236}">
                <a16:creationId xmlns:a16="http://schemas.microsoft.com/office/drawing/2014/main" id="{83BBC0BA-07F8-4BD0-8CA1-E97ADA31D1E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10">
            <a:extLst xmlns:a="http://schemas.openxmlformats.org/drawingml/2006/main">
              <a:ext uri="{FF2B5EF4-FFF2-40B4-BE49-F238E27FC236}">
                <a16:creationId xmlns:a16="http://schemas.microsoft.com/office/drawing/2014/main" id="{DED71809-5F58-42FF-B46F-3CC4626327DE}"/>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6" name="Google Shape;56;p10">
            <a:extLst xmlns:a="http://schemas.openxmlformats.org/drawingml/2006/main">
              <a:ext uri="{FF2B5EF4-FFF2-40B4-BE49-F238E27FC236}">
                <a16:creationId xmlns:a16="http://schemas.microsoft.com/office/drawing/2014/main" id="{3F4934B8-332C-49DA-A94E-5D54A84F0A6A}"/>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10">
            <a:extLst xmlns:a="http://schemas.openxmlformats.org/drawingml/2006/main">
              <a:ext uri="{FF2B5EF4-FFF2-40B4-BE49-F238E27FC236}">
                <a16:creationId xmlns:a16="http://schemas.microsoft.com/office/drawing/2014/main" id="{DDB435EF-C5C0-4074-A26C-F5F5D7146110}"/>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58" name="Google Shape;58;p10">
            <a:extLst xmlns:a="http://schemas.openxmlformats.org/drawingml/2006/main">
              <a:ext uri="{FF2B5EF4-FFF2-40B4-BE49-F238E27FC236}">
                <a16:creationId xmlns:a16="http://schemas.microsoft.com/office/drawing/2014/main" id="{567E95E2-77F7-48B3-87FA-2B7C3F77CB94}"/>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10">
            <a:extLst xmlns:a="http://schemas.openxmlformats.org/drawingml/2006/main">
              <a:ext uri="{FF2B5EF4-FFF2-40B4-BE49-F238E27FC236}">
                <a16:creationId xmlns:a16="http://schemas.microsoft.com/office/drawing/2014/main" id="{C0B15D8C-361F-4563-873E-1836DB8B823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10">
            <a:extLst xmlns:a="http://schemas.openxmlformats.org/drawingml/2006/main">
              <a:ext uri="{FF2B5EF4-FFF2-40B4-BE49-F238E27FC236}">
                <a16:creationId xmlns:a16="http://schemas.microsoft.com/office/drawing/2014/main" id="{2923CBBE-8CD2-4097-9AB9-5B9825634B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1">
            <a:extLst xmlns:a="http://schemas.openxmlformats.org/drawingml/2006/main">
              <a:ext uri="{FF2B5EF4-FFF2-40B4-BE49-F238E27FC236}">
                <a16:creationId xmlns:a16="http://schemas.microsoft.com/office/drawing/2014/main" id="{502E3C3D-F56A-4BFB-868A-0AFB2C168C6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63" name="Google Shape;63;p11">
            <a:extLst xmlns:a="http://schemas.openxmlformats.org/drawingml/2006/main">
              <a:ext uri="{FF2B5EF4-FFF2-40B4-BE49-F238E27FC236}">
                <a16:creationId xmlns:a16="http://schemas.microsoft.com/office/drawing/2014/main" id="{B5D9BB05-DD02-4400-807E-FDF3B9E40FE1}"/>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1">
            <a:extLst xmlns:a="http://schemas.openxmlformats.org/drawingml/2006/main">
              <a:ext uri="{FF2B5EF4-FFF2-40B4-BE49-F238E27FC236}">
                <a16:creationId xmlns:a16="http://schemas.microsoft.com/office/drawing/2014/main" id="{CC0406EB-CE93-4DCA-AAA9-E0E5651F0B96}"/>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65" name="Google Shape;65;p11">
            <a:extLst xmlns:a="http://schemas.openxmlformats.org/drawingml/2006/main">
              <a:ext uri="{FF2B5EF4-FFF2-40B4-BE49-F238E27FC236}">
                <a16:creationId xmlns:a16="http://schemas.microsoft.com/office/drawing/2014/main" id="{54DEFDC1-A184-4BFB-8F17-951C49C5A2E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6" name="Google Shape;66;p11">
            <a:extLst xmlns:a="http://schemas.openxmlformats.org/drawingml/2006/main">
              <a:ext uri="{FF2B5EF4-FFF2-40B4-BE49-F238E27FC236}">
                <a16:creationId xmlns:a16="http://schemas.microsoft.com/office/drawing/2014/main" id="{5AD30BE1-9DBA-4F29-956D-E9830FFDCCF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7" name="Google Shape;67;p11">
            <a:extLst xmlns:a="http://schemas.openxmlformats.org/drawingml/2006/main">
              <a:ext uri="{FF2B5EF4-FFF2-40B4-BE49-F238E27FC236}">
                <a16:creationId xmlns:a16="http://schemas.microsoft.com/office/drawing/2014/main" id="{0258D48E-48FD-4C8A-AAA0-424E22D507C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2">
            <a:extLst xmlns:a="http://schemas.openxmlformats.org/drawingml/2006/main">
              <a:ext uri="{FF2B5EF4-FFF2-40B4-BE49-F238E27FC236}">
                <a16:creationId xmlns:a16="http://schemas.microsoft.com/office/drawing/2014/main" id="{D196643C-2E40-4BC3-8751-21BEC2661B5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0" name="Google Shape;70;p12">
            <a:extLst xmlns:a="http://schemas.openxmlformats.org/drawingml/2006/main">
              <a:ext uri="{FF2B5EF4-FFF2-40B4-BE49-F238E27FC236}">
                <a16:creationId xmlns:a16="http://schemas.microsoft.com/office/drawing/2014/main" id="{4C76777E-B4AE-4D7B-A9B3-ECF9D4103A5F}"/>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1" name="Google Shape;71;p12">
            <a:extLst xmlns:a="http://schemas.openxmlformats.org/drawingml/2006/main">
              <a:ext uri="{FF2B5EF4-FFF2-40B4-BE49-F238E27FC236}">
                <a16:creationId xmlns:a16="http://schemas.microsoft.com/office/drawing/2014/main" id="{6659EE95-4D4F-4033-BA7D-E6401306044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2" name="Google Shape;72;p12">
            <a:extLst xmlns:a="http://schemas.openxmlformats.org/drawingml/2006/main">
              <a:ext uri="{FF2B5EF4-FFF2-40B4-BE49-F238E27FC236}">
                <a16:creationId xmlns:a16="http://schemas.microsoft.com/office/drawing/2014/main" id="{D0C661DA-CA72-4695-B221-84FBC1812BA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3" name="Google Shape;73;p12">
            <a:extLst xmlns:a="http://schemas.openxmlformats.org/drawingml/2006/main">
              <a:ext uri="{FF2B5EF4-FFF2-40B4-BE49-F238E27FC236}">
                <a16:creationId xmlns:a16="http://schemas.microsoft.com/office/drawing/2014/main" id="{C3DB3626-0B2F-41D8-8CB5-703F6419744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3">
            <a:extLst xmlns:a="http://schemas.openxmlformats.org/drawingml/2006/main">
              <a:ext uri="{FF2B5EF4-FFF2-40B4-BE49-F238E27FC236}">
                <a16:creationId xmlns:a16="http://schemas.microsoft.com/office/drawing/2014/main" id="{F330F6C4-9B0D-4A36-AF2E-A6B101C637C9}"/>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6" name="Google Shape;76;p13">
            <a:extLst xmlns:a="http://schemas.openxmlformats.org/drawingml/2006/main">
              <a:ext uri="{FF2B5EF4-FFF2-40B4-BE49-F238E27FC236}">
                <a16:creationId xmlns:a16="http://schemas.microsoft.com/office/drawing/2014/main" id="{68A09485-1E67-427A-BF54-847C7B824499}"/>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7" name="Google Shape;77;p13">
            <a:extLst xmlns:a="http://schemas.openxmlformats.org/drawingml/2006/main">
              <a:ext uri="{FF2B5EF4-FFF2-40B4-BE49-F238E27FC236}">
                <a16:creationId xmlns:a16="http://schemas.microsoft.com/office/drawing/2014/main" id="{15EB98E2-07AA-4C3C-80D6-51DDA5077ED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8" name="Google Shape;78;p13">
            <a:extLst xmlns:a="http://schemas.openxmlformats.org/drawingml/2006/main">
              <a:ext uri="{FF2B5EF4-FFF2-40B4-BE49-F238E27FC236}">
                <a16:creationId xmlns:a16="http://schemas.microsoft.com/office/drawing/2014/main" id="{987651B4-F72A-466F-94D8-9FC30834096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9" name="Google Shape;79;p13">
            <a:extLst xmlns:a="http://schemas.openxmlformats.org/drawingml/2006/main">
              <a:ext uri="{FF2B5EF4-FFF2-40B4-BE49-F238E27FC236}">
                <a16:creationId xmlns:a16="http://schemas.microsoft.com/office/drawing/2014/main" id="{57ACDF6A-F124-4C4B-9E2F-C7C8AF6230D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3308684d9c4f77" /><Relationship Type="http://schemas.openxmlformats.org/officeDocument/2006/relationships/slideLayout" Target="/ppt/slideLayouts/slideLayout1.xml" Id="Rc7079f11767c4d83" /><Relationship Type="http://schemas.openxmlformats.org/officeDocument/2006/relationships/slideLayout" Target="/ppt/slideLayouts/slideLayout2.xml" Id="R1dc61112c17c46db" /><Relationship Type="http://schemas.openxmlformats.org/officeDocument/2006/relationships/slideLayout" Target="/ppt/slideLayouts/slideLayout3.xml" Id="Rfd87e88963074942" /><Relationship Type="http://schemas.openxmlformats.org/officeDocument/2006/relationships/slideLayout" Target="/ppt/slideLayouts/slideLayout4.xml" Id="R0fb0ae7184e94326" /><Relationship Type="http://schemas.openxmlformats.org/officeDocument/2006/relationships/slideLayout" Target="/ppt/slideLayouts/slideLayout5.xml" Id="R12c4684a7bad45eb" /><Relationship Type="http://schemas.openxmlformats.org/officeDocument/2006/relationships/slideLayout" Target="/ppt/slideLayouts/slideLayout6.xml" Id="R7ce581dfb7e94c7b" /><Relationship Type="http://schemas.openxmlformats.org/officeDocument/2006/relationships/slideLayout" Target="/ppt/slideLayouts/slideLayout7.xml" Id="R0fa5f198901844e9" /><Relationship Type="http://schemas.openxmlformats.org/officeDocument/2006/relationships/slideLayout" Target="/ppt/slideLayouts/slideLayout8.xml" Id="Rf5b4d98a8ea24b14" /><Relationship Type="http://schemas.openxmlformats.org/officeDocument/2006/relationships/slideLayout" Target="/ppt/slideLayouts/slideLayout9.xml" Id="R23360ef6edc14a28" /><Relationship Type="http://schemas.openxmlformats.org/officeDocument/2006/relationships/slideLayout" Target="/ppt/slideLayouts/slideLayout10.xml" Id="R931e4d36e40d4329" /><Relationship Type="http://schemas.openxmlformats.org/officeDocument/2006/relationships/slideLayout" Target="/ppt/slideLayouts/slideLayout11.xml" Id="R66df77cf39324dd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DF680425-95E2-483C-B791-0812A53B907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a:endParaRPr/>
          </a:p>
        </p:txBody>
      </p:sp>
      <p:sp>
        <p:nvSpPr>
          <p:cNvPr id="7" name="Google Shape;7;p2">
            <a:extLst xmlns:a="http://schemas.openxmlformats.org/drawingml/2006/main">
              <a:ext uri="{FF2B5EF4-FFF2-40B4-BE49-F238E27FC236}">
                <a16:creationId xmlns:a16="http://schemas.microsoft.com/office/drawing/2014/main" id="{DEAFEBCE-2BA5-400E-BDFE-D0C03A6AF31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a:endParaRPr/>
          </a:p>
        </p:txBody>
      </p:sp>
      <p:sp>
        <p:nvSpPr>
          <p:cNvPr id="8" name="Google Shape;8;p2">
            <a:extLst xmlns:a="http://schemas.openxmlformats.org/drawingml/2006/main">
              <a:ext uri="{FF2B5EF4-FFF2-40B4-BE49-F238E27FC236}">
                <a16:creationId xmlns:a16="http://schemas.microsoft.com/office/drawing/2014/main" id="{53A07AA3-3351-40FB-A14E-6C79A2A6DC5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9" name="Google Shape;9;p2">
            <a:extLst xmlns:a="http://schemas.openxmlformats.org/drawingml/2006/main">
              <a:ext uri="{FF2B5EF4-FFF2-40B4-BE49-F238E27FC236}">
                <a16:creationId xmlns:a16="http://schemas.microsoft.com/office/drawing/2014/main" id="{3B468090-4982-48F8-8320-06EB457A8C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10" name="Google Shape;10;p2">
            <a:extLst xmlns:a="http://schemas.openxmlformats.org/drawingml/2006/main">
              <a:ext uri="{FF2B5EF4-FFF2-40B4-BE49-F238E27FC236}">
                <a16:creationId xmlns:a16="http://schemas.microsoft.com/office/drawing/2014/main" id="{DA47E6F3-22B6-428A-B2B1-AB3D2772C0E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7079f11767c4d83"/>
    <p:sldLayoutId xmlns:r="http://schemas.openxmlformats.org/officeDocument/2006/relationships" id="2147483650" r:id="R1dc61112c17c46db"/>
    <p:sldLayoutId xmlns:r="http://schemas.openxmlformats.org/officeDocument/2006/relationships" id="2147483651" r:id="Rfd87e88963074942"/>
    <p:sldLayoutId xmlns:r="http://schemas.openxmlformats.org/officeDocument/2006/relationships" id="2147483652" r:id="R0fb0ae7184e94326"/>
    <p:sldLayoutId xmlns:r="http://schemas.openxmlformats.org/officeDocument/2006/relationships" id="2147483653" r:id="R12c4684a7bad45eb"/>
    <p:sldLayoutId xmlns:r="http://schemas.openxmlformats.org/officeDocument/2006/relationships" id="2147483654" r:id="R7ce581dfb7e94c7b"/>
    <p:sldLayoutId xmlns:r="http://schemas.openxmlformats.org/officeDocument/2006/relationships" id="2147483655" r:id="R0fa5f198901844e9"/>
    <p:sldLayoutId xmlns:r="http://schemas.openxmlformats.org/officeDocument/2006/relationships" id="2147483656" r:id="Rf5b4d98a8ea24b14"/>
    <p:sldLayoutId xmlns:r="http://schemas.openxmlformats.org/officeDocument/2006/relationships" id="2147483657" r:id="R23360ef6edc14a28"/>
    <p:sldLayoutId xmlns:r="http://schemas.openxmlformats.org/officeDocument/2006/relationships" id="2147483658" r:id="R931e4d36e40d4329"/>
    <p:sldLayoutId xmlns:r="http://schemas.openxmlformats.org/officeDocument/2006/relationships" id="2147483659" r:id="R66df77cf39324dd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a1c090a66e48bd" /><Relationship Type="http://schemas.openxmlformats.org/officeDocument/2006/relationships/image" Target="/ppt/media/image.png" Id="R3fac86940c1a4982" /><Relationship Type="http://schemas.openxmlformats.org/officeDocument/2006/relationships/notesSlide" Target="/ppt/notesSlides/notesSlide1.xml" Id="R6d32226d402244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fb702ea36c4595" /><Relationship Type="http://schemas.openxmlformats.org/officeDocument/2006/relationships/image" Target="/ppt/media/image2.png" Id="Rd2cc04b8c98c43d0" /><Relationship Type="http://schemas.openxmlformats.org/officeDocument/2006/relationships/notesSlide" Target="/ppt/notesSlides/notesSlide2.xml" Id="R06de6b02dbaf4e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9f2909fed943bd" /><Relationship Type="http://schemas.openxmlformats.org/officeDocument/2006/relationships/notesSlide" Target="/ppt/notesSlides/notesSlide3.xml" Id="R20799af6be7749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337078ba61488d" /><Relationship Type="http://schemas.openxmlformats.org/officeDocument/2006/relationships/notesSlide" Target="/ppt/notesSlides/notesSlide4.xml" Id="R9e69a4e4ee2f43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d119b9970b4f09" /><Relationship Type="http://schemas.openxmlformats.org/officeDocument/2006/relationships/notesSlide" Target="/ppt/notesSlides/notesSlide5.xml" Id="R0d78a0f239a049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221177f1b04f01" /><Relationship Type="http://schemas.openxmlformats.org/officeDocument/2006/relationships/notesSlide" Target="/ppt/notesSlides/notesSlide6.xml" Id="R38d91ed418704d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ed35b6c4a048b2" /><Relationship Type="http://schemas.openxmlformats.org/officeDocument/2006/relationships/notesSlide" Target="/ppt/notesSlides/notesSlide7.xml" Id="Rca71bc851ab345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57e370be1942f9" /><Relationship Type="http://schemas.openxmlformats.org/officeDocument/2006/relationships/notesSlide" Target="/ppt/notesSlides/notesSlide8.xml" Id="R7fff4a43b44c42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d8dd6d0f3543a0" /><Relationship Type="http://schemas.openxmlformats.org/officeDocument/2006/relationships/notesSlide" Target="/ppt/notesSlides/notesSlide9.xml" Id="R6da2b0f40b4f4b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9b132c57a541fe" /><Relationship Type="http://schemas.openxmlformats.org/officeDocument/2006/relationships/notesSlide" Target="/ppt/notesSlides/notesSlide10.xml" Id="R172802264bd145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f2dcb067b24fa1" /><Relationship Type="http://schemas.openxmlformats.org/officeDocument/2006/relationships/notesSlide" Target="/ppt/notesSlides/notesSlide11.xml" Id="Rc4a83855aece49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1538659878342be" /><Relationship Type="http://schemas.openxmlformats.org/officeDocument/2006/relationships/notesSlide" Target="/ppt/notesSlides/notesSlide12.xml" Id="Re892b873dd0e46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0ce3a80de645b2" /><Relationship Type="http://schemas.openxmlformats.org/officeDocument/2006/relationships/notesSlide" Target="/ppt/notesSlides/notesSlide13.xml" Id="Rb58c3ac5a1e44c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5facc44d7a4669" /><Relationship Type="http://schemas.openxmlformats.org/officeDocument/2006/relationships/notesSlide" Target="/ppt/notesSlides/notesSlide14.xml" Id="Rf745e2bf1a5945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d2ea27c4ad4e04" /><Relationship Type="http://schemas.openxmlformats.org/officeDocument/2006/relationships/notesSlide" Target="/ppt/notesSlides/notesSlide15.xml" Id="R002308174dce48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1c642b25404e92" /><Relationship Type="http://schemas.openxmlformats.org/officeDocument/2006/relationships/notesSlide" Target="/ppt/notesSlides/notesSlide16.xml" Id="R23b8ff7eb6a647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e205df2408e4bd5" /><Relationship Type="http://schemas.openxmlformats.org/officeDocument/2006/relationships/notesSlide" Target="/ppt/notesSlides/notesSlide17.xml" Id="R507e82f248294a5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6" name="Google Shape;84;p1"/>
          <p:cNvPicPr>
            <a:picLocks xmlns:a="http://schemas.openxmlformats.org/drawingml/2006/main" noChangeAspect="1"/>
          </p:cNvPicPr>
          <p:nvPr/>
        </p:nvPicPr>
        <p:blipFill>
          <a:blip xmlns:r="http://schemas.openxmlformats.org/officeDocument/2006/relationships" xmlns:a="http://schemas.openxmlformats.org/drawingml/2006/main" r:embed="R3fac86940c1a4982">
            <a:alphaModFix/>
          </a:blip>
          <a:stretch xmlns:a="http://schemas.openxmlformats.org/drawingml/2006/main">
            <a:fillRect l="0" t="0" r="0" b="0"/>
          </a:stretch>
        </p:blipFill>
        <p:spPr>
          <a:xfrm xmlns:a="http://schemas.openxmlformats.org/drawingml/2006/main">
            <a:off x="-61737" y="0"/>
            <a:ext cx="12253739" cy="6857999"/>
          </a:xfrm>
          <a:prstGeom xmlns:a="http://schemas.openxmlformats.org/drawingml/2006/main" prst="rect">
            <a:avLst/>
          </a:prstGeom>
          <a:ln xmlns:a="http://schemas.openxmlformats.org/drawingml/2006/main">
            <a:noFill/>
          </a:ln>
        </p:spPr>
      </p:pic>
      <p:sp>
        <p:nvSpPr>
          <p:cNvPr id="85" name="Google Shape;85;p1">
            <a:extLst xmlns:a="http://schemas.openxmlformats.org/drawingml/2006/main">
              <a:ext uri="{FF2B5EF4-FFF2-40B4-BE49-F238E27FC236}">
                <a16:creationId xmlns:a16="http://schemas.microsoft.com/office/drawing/2014/main" id="{DAECB926-83EF-438E-BE40-C3671D67976C}"/>
              </a:ext>
            </a:extLst>
          </p:cNvPr>
          <p:cNvSpPr>
            <a:spLocks xmlns:a="http://schemas.openxmlformats.org/drawingml/2006/main" noGrp="1"/>
          </p:cNvSpPr>
          <p:nvPr/>
        </p:nvSpPr>
        <p:spPr>
          <a:xfrm xmlns:a="http://schemas.openxmlformats.org/drawingml/2006/main">
            <a:off x="508650" y="1572775"/>
            <a:ext cx="4912500" cy="8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4800" b="1" i="0" u="none" cap="none">
                <a:solidFill>
                  <a:srgbClr val="121212"/>
                </a:solidFill>
                <a:latin typeface="Play"/>
                <a:ea typeface="Play"/>
                <a:cs typeface="Play"/>
              </a:rPr>
              <a:t>ClearanceX</a:t>
            </a:r>
            <a:endParaRPr/>
          </a:p>
        </p:txBody>
      </p:sp>
      <p:sp>
        <p:nvSpPr>
          <p:cNvPr id="86" name="Google Shape;86;p1">
            <a:extLst xmlns:a="http://schemas.openxmlformats.org/drawingml/2006/main">
              <a:ext uri="{FF2B5EF4-FFF2-40B4-BE49-F238E27FC236}">
                <a16:creationId xmlns:a16="http://schemas.microsoft.com/office/drawing/2014/main" id="{7C1920B6-E43E-4F38-AAED-DAA33E103AE2}"/>
              </a:ext>
            </a:extLst>
          </p:cNvPr>
          <p:cNvSpPr>
            <a:spLocks xmlns:a="http://schemas.openxmlformats.org/drawingml/2006/main" noGrp="1"/>
          </p:cNvSpPr>
          <p:nvPr/>
        </p:nvSpPr>
        <p:spPr>
          <a:xfrm xmlns:a="http://schemas.openxmlformats.org/drawingml/2006/main">
            <a:off x="612648" y="2350008"/>
            <a:ext cx="1051560" cy="50292"/>
          </a:xfrm>
          <a:prstGeom xmlns:a="http://schemas.openxmlformats.org/drawingml/2006/main" prst="rect">
            <a:avLst/>
          </a:prstGeom>
          <a:solidFill xmlns:a="http://schemas.openxmlformats.org/drawingml/2006/main">
            <a:srgbClr val="F45B00"/>
          </a:solidFill>
          <a:ln xmlns:a="http://schemas.openxmlformats.org/drawingml/2006/main">
            <a:noFill/>
          </a:ln>
          <a:effectLst xmlns:a="http://schemas.openxmlformats.org/drawingml/2006/main">
            <a:outerShdw blurRad="40000" dist="23000" dir="5400000" rotWithShape="0">
              <a:srgbClr val="000000">
                <a:alpha val="34902"/>
              </a:srgbClr>
            </a:outerShdw>
          </a:effectLst>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800" b="0" i="0" u="none" cap="none">
              <a:solidFill>
                <a:schemeClr val="lt1"/>
              </a:solidFill>
              <a:latin typeface="Calibri"/>
              <a:ea typeface="Calibri"/>
              <a:cs typeface="Calibri"/>
            </a:endParaRPr>
          </a:p>
        </p:txBody>
      </p:sp>
      <p:sp>
        <p:nvSpPr>
          <p:cNvPr id="87" name="Google Shape;87;p1">
            <a:extLst xmlns:a="http://schemas.openxmlformats.org/drawingml/2006/main">
              <a:ext uri="{FF2B5EF4-FFF2-40B4-BE49-F238E27FC236}">
                <a16:creationId xmlns:a16="http://schemas.microsoft.com/office/drawing/2014/main" id="{BBAE4362-0050-41FB-8C53-60347D80AFAF}"/>
              </a:ext>
            </a:extLst>
          </p:cNvPr>
          <p:cNvSpPr>
            <a:spLocks xmlns:a="http://schemas.openxmlformats.org/drawingml/2006/main" noGrp="1"/>
          </p:cNvSpPr>
          <p:nvPr/>
        </p:nvSpPr>
        <p:spPr>
          <a:xfrm xmlns:a="http://schemas.openxmlformats.org/drawingml/2006/main">
            <a:off x="647700" y="3143250"/>
            <a:ext cx="2905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a:defRPr sz="1600" b="1">
                <a:solidFill>
                  <a:srgbClr val="000000"/>
                </a:solidFill>
                <a:latin typeface="Arial"/>
                <a:ea typeface="Arial"/>
                <a:cs typeface="Arial"/>
              </a:defRPr>
            </a:pPr>
            <a:r>
              <a:rPr sz="1600" b="1">
                <a:solidFill>
                  <a:srgbClr val="000000"/>
                </a:solidFill>
                <a:latin typeface="Arial"/>
                <a:ea typeface="Arial"/>
                <a:cs typeface="Arial"/>
              </a:rPr>
              <a:t>Explainable reconciliation</a:t>
            </a:r>
            <a:endParaRPr sz="1600"/>
          </a:p>
        </p:txBody>
      </p:sp>
      <p:sp>
        <p:nvSpPr>
          <p:cNvPr id="88" name="Google Shape;88;p1">
            <a:extLst xmlns:a="http://schemas.openxmlformats.org/drawingml/2006/main">
              <a:ext uri="{FF2B5EF4-FFF2-40B4-BE49-F238E27FC236}">
                <a16:creationId xmlns:a16="http://schemas.microsoft.com/office/drawing/2014/main" id="{17432A03-2A2E-46C8-B6DF-2E1B3FF34B4E}"/>
              </a:ext>
            </a:extLst>
          </p:cNvPr>
          <p:cNvSpPr>
            <a:spLocks xmlns:a="http://schemas.openxmlformats.org/drawingml/2006/main" noGrp="1"/>
          </p:cNvSpPr>
          <p:nvPr/>
        </p:nvSpPr>
        <p:spPr>
          <a:xfrm xmlns:a="http://schemas.openxmlformats.org/drawingml/2006/main">
            <a:off x="612648" y="2697480"/>
            <a:ext cx="28575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defRPr sz="2250" b="1">
                <a:solidFill>
                  <a:srgbClr val="171B20"/>
                </a:solidFill>
                <a:latin typeface="Arial"/>
                <a:ea typeface="Arial"/>
                <a:cs typeface="Arial"/>
              </a:defRPr>
            </a:pPr>
            <a:r>
              <a:rPr sz="2250" b="1" i="0" u="none" cap="none">
                <a:solidFill>
                  <a:srgbClr val="171B20"/>
                </a:solidFill>
                <a:latin typeface="Arial"/>
                <a:ea typeface="Arial"/>
                <a:cs typeface="Arial"/>
              </a:rPr>
              <a:t>Project focus</a:t>
            </a:r>
            <a:endParaRPr sz="2800" b="1" i="0" u="none" cap="none">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C80FA2F6-F159-49E4-A983-8D52B03E7800}"/>
              </a:ext>
            </a:extLst>
          </p:cNvPr>
          <p:cNvSpPr>
            <a:spLocks xmlns:a="http://schemas.openxmlformats.org/drawingml/2006/main" noGrp="1"/>
          </p:cNvSpPr>
          <p:nvPr/>
        </p:nvSpPr>
        <p:spPr>
          <a:xfrm xmlns:a="http://schemas.openxmlformats.org/drawingml/2006/main">
            <a:off x="612650" y="3614100"/>
            <a:ext cx="3261900" cy="52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2800" b="1">
                <a:solidFill>
                  <a:srgbClr val="121212"/>
                </a:solidFill>
              </a:rPr>
              <a:t>University </a:t>
            </a:r>
            <a:r>
              <a:rPr sz="2800" b="1" i="0" u="none" cap="none">
                <a:solidFill>
                  <a:srgbClr val="121212"/>
                </a:solidFill>
                <a:latin typeface="Arial"/>
                <a:ea typeface="Arial"/>
                <a:cs typeface="Arial"/>
              </a:rPr>
              <a:t>Name</a:t>
            </a:r>
            <a:endParaRPr sz="2800" b="1" i="0" u="none" cap="none">
              <a:solidFill>
                <a:schemeClr val="dk1"/>
              </a:solidFill>
              <a:latin typeface="Calibri"/>
              <a:ea typeface="Calibri"/>
              <a:cs typeface="Calibri"/>
            </a:endParaRPr>
          </a:p>
        </p:txBody>
      </p:sp>
      <p:sp>
        <p:nvSpPr>
          <p:cNvPr id="90" name="Google Shape;90;p1">
            <a:extLst xmlns:a="http://schemas.openxmlformats.org/drawingml/2006/main">
              <a:ext uri="{FF2B5EF4-FFF2-40B4-BE49-F238E27FC236}">
                <a16:creationId xmlns:a16="http://schemas.microsoft.com/office/drawing/2014/main" id="{6A64D4F0-B180-4E9D-8814-B2861DD39D0C}"/>
              </a:ext>
            </a:extLst>
          </p:cNvPr>
          <p:cNvSpPr>
            <a:spLocks xmlns:a="http://schemas.openxmlformats.org/drawingml/2006/main" noGrp="1"/>
          </p:cNvSpPr>
          <p:nvPr/>
        </p:nvSpPr>
        <p:spPr>
          <a:xfrm xmlns:a="http://schemas.openxmlformats.org/drawingml/2006/main">
            <a:off x="612650" y="4013775"/>
            <a:ext cx="2600100" cy="338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cap="none">
                <a:solidFill>
                  <a:srgbClr val="121212"/>
                </a:solidFill>
                <a:latin typeface="Arial"/>
                <a:ea typeface="Arial"/>
                <a:cs typeface="Arial"/>
              </a:rPr>
              <a:t>University Of Moratuwa</a:t>
            </a:r>
            <a:endParaRPr b="1"/>
          </a:p>
        </p:txBody>
      </p:sp>
      <p:sp>
        <p:nvSpPr>
          <p:cNvPr id="91" name="Google Shape;91;p1">
            <a:extLst xmlns:a="http://schemas.openxmlformats.org/drawingml/2006/main">
              <a:ext uri="{FF2B5EF4-FFF2-40B4-BE49-F238E27FC236}">
                <a16:creationId xmlns:a16="http://schemas.microsoft.com/office/drawing/2014/main" id="{325748B1-824E-409F-9769-FCF283AF001F}"/>
              </a:ext>
            </a:extLst>
          </p:cNvPr>
          <p:cNvSpPr>
            <a:spLocks xmlns:a="http://schemas.openxmlformats.org/drawingml/2006/main" noGrp="1"/>
          </p:cNvSpPr>
          <p:nvPr/>
        </p:nvSpPr>
        <p:spPr>
          <a:xfrm xmlns:a="http://schemas.openxmlformats.org/drawingml/2006/main">
            <a:off x="3789017" y="3105200"/>
            <a:ext cx="2966700" cy="3077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b="1"/>
              <a:t>ANTS</a:t>
            </a:r>
            <a:endParaRPr b="1"/>
          </a:p>
        </p:txBody>
      </p:sp>
      <p:sp>
        <p:nvSpPr>
          <p:cNvPr id="92" name="Google Shape;92;p1">
            <a:extLst xmlns:a="http://schemas.openxmlformats.org/drawingml/2006/main">
              <a:ext uri="{FF2B5EF4-FFF2-40B4-BE49-F238E27FC236}">
                <a16:creationId xmlns:a16="http://schemas.microsoft.com/office/drawing/2014/main" id="{80FDB77D-ABCF-4278-BE4C-0574D1EFA7B7}"/>
              </a:ext>
            </a:extLst>
          </p:cNvPr>
          <p:cNvSpPr>
            <a:spLocks xmlns:a="http://schemas.openxmlformats.org/drawingml/2006/main" noGrp="1"/>
          </p:cNvSpPr>
          <p:nvPr/>
        </p:nvSpPr>
        <p:spPr>
          <a:xfrm xmlns:a="http://schemas.openxmlformats.org/drawingml/2006/main">
            <a:off x="3762765" y="4013775"/>
            <a:ext cx="3764400" cy="8309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121212"/>
                </a:solidFill>
              </a:rPr>
              <a:t>Nadija </a:t>
            </a:r>
            <a:r>
              <a:rPr sz="1600" b="1">
                <a:solidFill>
                  <a:srgbClr val="121212"/>
                </a:solidFill>
              </a:rPr>
              <a:t>Welihena</a:t>
            </a:r>
            <a:r>
              <a:rPr sz="1600" b="1">
                <a:solidFill>
                  <a:srgbClr val="121212"/>
                </a:solidFill>
              </a:rPr>
              <a:t> Gamage</a:t>
            </a:r>
          </a:p>
          <a:p xmlns:a="http://schemas.openxmlformats.org/drawingml/2006/main">
            <a:pPr marL="0" marR="0" lvl="0" indent="0" algn="l">
              <a:spcBef>
                <a:spcPts val="0"/>
              </a:spcBef>
              <a:spcAft>
                <a:spcPts val="0"/>
              </a:spcAft>
              <a:buNone/>
            </a:pPr>
            <a:r>
              <a:rPr sz="1600" b="1">
                <a:solidFill>
                  <a:srgbClr val="121212"/>
                </a:solidFill>
              </a:rPr>
              <a:t>Kaveen </a:t>
            </a:r>
            <a:r>
              <a:rPr sz="1600" b="1">
                <a:solidFill>
                  <a:srgbClr val="121212"/>
                </a:solidFill>
              </a:rPr>
              <a:t>Hirumal</a:t>
            </a:r>
            <a:endParaRPr sz="1600" b="1">
              <a:solidFill>
                <a:srgbClr val="121212"/>
              </a:solidFill>
            </a:endParaRPr>
          </a:p>
          <a:p xmlns:a="http://schemas.openxmlformats.org/drawingml/2006/main">
            <a:pPr marL="0" marR="0" lvl="0" indent="0" algn="l">
              <a:spcBef>
                <a:spcPts val="0"/>
              </a:spcBef>
              <a:spcAft>
                <a:spcPts val="0"/>
              </a:spcAft>
              <a:buNone/>
            </a:pPr>
            <a:r>
              <a:rPr sz="1600" b="1">
                <a:solidFill>
                  <a:srgbClr val="121212"/>
                </a:solidFill>
              </a:rPr>
              <a:t>Aloka Fernando</a:t>
            </a:r>
            <a:endParaRPr b="1"/>
          </a:p>
        </p:txBody>
      </p:sp>
      <p:sp>
        <p:nvSpPr>
          <p:cNvPr id="93" name="Google Shape;93;p1">
            <a:extLst xmlns:a="http://schemas.openxmlformats.org/drawingml/2006/main">
              <a:ext uri="{FF2B5EF4-FFF2-40B4-BE49-F238E27FC236}">
                <a16:creationId xmlns:a16="http://schemas.microsoft.com/office/drawing/2014/main" id="{26647278-3CB8-4860-9336-C1C2A4F0884F}"/>
              </a:ext>
            </a:extLst>
          </p:cNvPr>
          <p:cNvSpPr>
            <a:spLocks xmlns:a="http://schemas.openxmlformats.org/drawingml/2006/main" noGrp="1"/>
          </p:cNvSpPr>
          <p:nvPr/>
        </p:nvSpPr>
        <p:spPr>
          <a:xfrm xmlns:a="http://schemas.openxmlformats.org/drawingml/2006/main">
            <a:off x="3762765" y="2700675"/>
            <a:ext cx="3345000" cy="52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cap="none">
                <a:solidFill>
                  <a:srgbClr val="121212"/>
                </a:solidFill>
                <a:latin typeface="Arial"/>
                <a:ea typeface="Arial"/>
                <a:cs typeface="Arial"/>
              </a:rPr>
              <a:t>Team Name</a:t>
            </a:r>
            <a:endParaRPr sz="2800" b="1" i="0" u="none" cap="none">
              <a:solidFill>
                <a:srgbClr val="000000"/>
              </a:solidFill>
              <a:latin typeface="Calibri"/>
              <a:ea typeface="Calibri"/>
              <a:cs typeface="Calibri"/>
            </a:endParaRPr>
          </a:p>
        </p:txBody>
      </p:sp>
      <p:sp>
        <p:nvSpPr>
          <p:cNvPr id="94" name="Google Shape;94;p1">
            <a:extLst xmlns:a="http://schemas.openxmlformats.org/drawingml/2006/main">
              <a:ext uri="{FF2B5EF4-FFF2-40B4-BE49-F238E27FC236}">
                <a16:creationId xmlns:a16="http://schemas.microsoft.com/office/drawing/2014/main" id="{AD25B4DA-F504-4B45-BDA9-E2AAD89C18B8}"/>
              </a:ext>
            </a:extLst>
          </p:cNvPr>
          <p:cNvSpPr>
            <a:spLocks xmlns:a="http://schemas.openxmlformats.org/drawingml/2006/main" noGrp="1"/>
          </p:cNvSpPr>
          <p:nvPr/>
        </p:nvSpPr>
        <p:spPr>
          <a:xfrm xmlns:a="http://schemas.openxmlformats.org/drawingml/2006/main">
            <a:off x="3762765" y="3619325"/>
            <a:ext cx="4137000" cy="52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cap="none">
                <a:solidFill>
                  <a:srgbClr val="121212"/>
                </a:solidFill>
                <a:latin typeface="Arial"/>
                <a:ea typeface="Arial"/>
                <a:cs typeface="Arial"/>
              </a:rPr>
              <a:t>Members Details</a:t>
            </a:r>
            <a:endParaRPr sz="2800" b="1" i="0" u="none" cap="none">
              <a:solidFill>
                <a:srgbClr val="000000"/>
              </a:solidFill>
              <a:latin typeface="Calibri"/>
              <a:ea typeface="Calibri"/>
              <a:cs typeface="Calibri"/>
            </a:endParaRPr>
          </a:p>
        </p:txBody>
      </p:sp>
    </p:spTree>
    <p:extLst>
      <p:ext uri="{BB962C8B-B14F-4D97-AF65-F5344CB8AC3E}">
        <p14:creationId xmlns:p14="http://schemas.microsoft.com/office/powerpoint/2010/main" val="395599661"/>
      </p:ext>
    </p:extLst>
  </p:cSld>
</p:sld>
</file>

<file path=ppt/slides/slide2.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8" name="CLEARANCEX">
            <a:extLst xmlns:a="http://schemas.openxmlformats.org/drawingml/2006/main">
              <a:ext uri="{FF2B5EF4-FFF2-40B4-BE49-F238E27FC236}">
                <a16:creationId xmlns:a16="http://schemas.microsoft.com/office/drawing/2014/main" id="{2A45BC9A-33E5-4B2C-9166-D3E8A9EBD2E8}"/>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The document review problem">
            <a:extLst xmlns:a="http://schemas.openxmlformats.org/drawingml/2006/main">
              <a:ext uri="{FF2B5EF4-FFF2-40B4-BE49-F238E27FC236}">
                <a16:creationId xmlns:a16="http://schemas.microsoft.com/office/drawing/2014/main" id="{736ABF03-C277-47D2-909D-2843E141093C}"/>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The document review problem</a:t>
            </a:r>
          </a:p>
        </p:txBody>
      </p:sp>
      <p:sp>
        <p:nvSpPr>
          <p:cNvPr id="3" name="02">
            <a:extLst xmlns:a="http://schemas.openxmlformats.org/drawingml/2006/main">
              <a:ext uri="{FF2B5EF4-FFF2-40B4-BE49-F238E27FC236}">
                <a16:creationId xmlns:a16="http://schemas.microsoft.com/office/drawing/2014/main" id="{E8272375-6651-4AEA-982B-5DE7181C195A}"/>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02</a:t>
            </a:r>
          </a:p>
        </p:txBody>
      </p:sp>
      <p:sp>
        <p:nvSpPr>
          <p:cNvPr id="4" name="Different documents.&#10;One declaration.">
            <a:extLst xmlns:a="http://schemas.openxmlformats.org/drawingml/2006/main">
              <a:ext uri="{FF2B5EF4-FFF2-40B4-BE49-F238E27FC236}">
                <a16:creationId xmlns:a16="http://schemas.microsoft.com/office/drawing/2014/main" id="{EFAE8ADD-DC09-44D2-9ABB-5B57E6785FC5}"/>
              </a:ext>
            </a:extLst>
          </p:cNvPr>
          <p:cNvSpPr>
            <a:spLocks xmlns:a="http://schemas.openxmlformats.org/drawingml/2006/main" noGrp="1"/>
          </p:cNvSpPr>
          <p:nvPr/>
        </p:nvSpPr>
        <p:spPr>
          <a:xfrm xmlns:a="http://schemas.openxmlformats.org/drawingml/2006/main">
            <a:off x="609600" y="2219325"/>
            <a:ext cx="5572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1B20"/>
                </a:solidFill>
                <a:latin typeface="Arial"/>
                <a:ea typeface="Arial"/>
                <a:cs typeface="Arial"/>
              </a:defRPr>
            </a:pPr>
            <a:r>
              <a:rPr sz="3150" b="1">
                <a:solidFill>
                  <a:srgbClr val="171B20"/>
                </a:solidFill>
                <a:latin typeface="Arial"/>
                <a:ea typeface="Arial"/>
                <a:cs typeface="Arial"/>
              </a:rPr>
              <a:t>Different documents.</a:t>
            </a:r>
          </a:p>
          <a:p xmlns:a="http://schemas.openxmlformats.org/drawingml/2006/main">
            <a:pPr>
              <a:defRPr sz="3150" b="1">
                <a:solidFill>
                  <a:srgbClr val="171B20"/>
                </a:solidFill>
                <a:latin typeface="Arial"/>
                <a:ea typeface="Arial"/>
                <a:cs typeface="Arial"/>
              </a:defRPr>
            </a:pPr>
            <a:r>
              <a:rPr sz="3150" b="1">
                <a:solidFill>
                  <a:srgbClr val="171B20"/>
                </a:solidFill>
                <a:latin typeface="Arial"/>
                <a:ea typeface="Arial"/>
                <a:cs typeface="Arial"/>
              </a:rPr>
              <a:t>One declaration.</a:t>
            </a:r>
          </a:p>
        </p:txBody>
      </p:sp>
      <p:sp>
        <p:nvSpPr>
          <p:cNvPr id="5" name="A shipping executive must reconcile values before preparing ">
            <a:extLst xmlns:a="http://schemas.openxmlformats.org/drawingml/2006/main">
              <a:ext uri="{FF2B5EF4-FFF2-40B4-BE49-F238E27FC236}">
                <a16:creationId xmlns:a16="http://schemas.microsoft.com/office/drawing/2014/main" id="{7B5597B5-79A4-4831-A005-3355B138DF9F}"/>
              </a:ext>
            </a:extLst>
          </p:cNvPr>
          <p:cNvSpPr>
            <a:spLocks xmlns:a="http://schemas.openxmlformats.org/drawingml/2006/main" noGrp="1"/>
          </p:cNvSpPr>
          <p:nvPr/>
        </p:nvSpPr>
        <p:spPr>
          <a:xfrm xmlns:a="http://schemas.openxmlformats.org/drawingml/2006/main">
            <a:off x="609600" y="3790950"/>
            <a:ext cx="5286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1B20"/>
                </a:solidFill>
                <a:latin typeface="Arial"/>
                <a:ea typeface="Arial"/>
                <a:cs typeface="Arial"/>
              </a:defRPr>
            </a:pPr>
            <a:r>
              <a:rPr sz="2100" b="0">
                <a:solidFill>
                  <a:srgbClr val="171B20"/>
                </a:solidFill>
                <a:latin typeface="Arial"/>
                <a:ea typeface="Arial"/>
                <a:cs typeface="Arial"/>
              </a:rPr>
              <a:t>A shipping executive must reconcile values before preparing the declaration.</a:t>
            </a:r>
          </a:p>
        </p:txBody>
      </p:sp>
      <p:sp>
        <p:nvSpPr>
          <p:cNvPr id="6" name="Starting scope: English apparel shipping PDFs">
            <a:extLst xmlns:a="http://schemas.openxmlformats.org/drawingml/2006/main">
              <a:ext uri="{FF2B5EF4-FFF2-40B4-BE49-F238E27FC236}">
                <a16:creationId xmlns:a16="http://schemas.microsoft.com/office/drawing/2014/main" id="{A8AEDCFC-8E17-467E-AD41-6F23DACFA7F3}"/>
              </a:ext>
            </a:extLst>
          </p:cNvPr>
          <p:cNvSpPr>
            <a:spLocks xmlns:a="http://schemas.openxmlformats.org/drawingml/2006/main" noGrp="1"/>
          </p:cNvSpPr>
          <p:nvPr/>
        </p:nvSpPr>
        <p:spPr>
          <a:xfrm xmlns:a="http://schemas.openxmlformats.org/drawingml/2006/main">
            <a:off x="609600" y="5562600"/>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C5E60"/>
                </a:solidFill>
                <a:latin typeface="Arial"/>
                <a:ea typeface="Arial"/>
                <a:cs typeface="Arial"/>
              </a:defRPr>
            </a:pPr>
            <a:r>
              <a:rPr sz="1575" b="0">
                <a:solidFill>
                  <a:srgbClr val="5C5E60"/>
                </a:solidFill>
                <a:latin typeface="Arial"/>
                <a:ea typeface="Arial"/>
                <a:cs typeface="Arial"/>
              </a:rPr>
              <a:t>Starting scope: English apparel shipping PDFs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cc04b8c98c43d0"/>
          <a:srcRect xmlns:a="http://schemas.openxmlformats.org/drawingml/2006/main" l="13098" t="0" r="13098" b="0"/>
          <a:stretch xmlns:a="http://schemas.openxmlformats.org/drawingml/2006/main">
            <a:fillRect l="0" t="0" r="0" b="0"/>
          </a:stretch>
        </p:blipFill>
        <p:spPr>
          <a:xfrm xmlns:a="http://schemas.openxmlformats.org/drawingml/2006/main">
            <a:off x="6619875" y="2143125"/>
            <a:ext cx="4962525" cy="3752850"/>
          </a:xfrm>
          <a:prstGeom xmlns:a="http://schemas.openxmlformats.org/drawingml/2006/main" prst="rect">
            <a:avLst/>
          </a:prstGeom>
        </p:spPr>
      </p:pic>
    </p:spTree>
    <p:extLst>
      <p:ext uri="{BB962C8B-B14F-4D97-AF65-F5344CB8AC3E}">
        <p14:creationId xmlns:p14="http://schemas.microsoft.com/office/powerpoint/2010/main" val="101269638"/>
      </p:ext>
    </p:extLst>
  </p:cSld>
</p:sld>
</file>

<file path=ppt/slides/slide3.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9" name="CLEARANCEX">
            <a:extLst xmlns:a="http://schemas.openxmlformats.org/drawingml/2006/main">
              <a:ext uri="{FF2B5EF4-FFF2-40B4-BE49-F238E27FC236}">
                <a16:creationId xmlns:a16="http://schemas.microsoft.com/office/drawing/2014/main" id="{C55A4DEC-D97C-46F5-8712-62D6D71C7CD3}"/>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One shipment, conflicting values">
            <a:extLst xmlns:a="http://schemas.openxmlformats.org/drawingml/2006/main">
              <a:ext uri="{FF2B5EF4-FFF2-40B4-BE49-F238E27FC236}">
                <a16:creationId xmlns:a16="http://schemas.microsoft.com/office/drawing/2014/main" id="{A1A19476-33DB-493C-8053-8EF8D21A4354}"/>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One shipment, conflicting values</a:t>
            </a:r>
          </a:p>
        </p:txBody>
      </p:sp>
      <p:sp>
        <p:nvSpPr>
          <p:cNvPr id="3" name="03">
            <a:extLst xmlns:a="http://schemas.openxmlformats.org/drawingml/2006/main">
              <a:ext uri="{FF2B5EF4-FFF2-40B4-BE49-F238E27FC236}">
                <a16:creationId xmlns:a16="http://schemas.microsoft.com/office/drawing/2014/main" id="{76E09BB9-20C5-4F1C-945F-15CBB5E2DB9C}"/>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03</a:t>
            </a:r>
          </a:p>
        </p:txBody>
      </p:sp>
      <p:graphicFrame>
        <p:nvGraphicFramePr>
          <p:cNvPr id="12" name=""/>
          <p:cNvGraphicFramePr/>
          <p:nvPr/>
        </p:nvGraphicFramePr>
        <p:xfrm>
          <a:off xmlns:a="http://schemas.openxmlformats.org/drawingml/2006/main" x="609600" y="2095500"/>
          <a:ext xmlns:a="http://schemas.openxmlformats.org/drawingml/2006/main" cx="7239000" cy="3143250"/>
        </p:xfrm>
        <a:graphic xmlns:a="http://schemas.openxmlformats.org/drawingml/2006/main">
          <a:graphicData uri="http://schemas.openxmlformats.org/drawingml/2006/table">
            <a:tbl>
              <a:tblPr/>
              <a:tblGrid>
                <a:gridCol w="4810125"/>
                <a:gridCol w="2428875"/>
              </a:tblGrid>
              <a:tr h="785813">
                <a:tc>
                  <a:txBody>
                    <a:bodyPr>
                      <a:noAutofit/>
                    </a:bodyPr>
                    <a:lstStyle/>
                    <a:p>
                      <a:r>
                        <a:rPr sz="1875" b="1">
                          <a:solidFill>
                            <a:srgbClr val="F56B16"/>
                          </a:solidFill>
                          <a:latin typeface="Arial"/>
                          <a:ea typeface="Arial"/>
                          <a:cs typeface="Arial"/>
                        </a:rPr>
                        <a:t>Source document</a:t>
                      </a:r>
                    </a:p>
                  </a:txBody>
                  <a:tcPr marL="91440" marR="91440" marT="45720" marB="45720">
                    <a:solidFill>
                      <a:srgbClr val="F0DDC7"/>
                    </a:solidFill>
                  </a:tcPr>
                </a:tc>
                <a:tc>
                  <a:txBody>
                    <a:bodyPr>
                      <a:noAutofit/>
                    </a:bodyPr>
                    <a:lstStyle/>
                    <a:p>
                      <a:r>
                        <a:rPr sz="1875" b="1">
                          <a:solidFill>
                            <a:srgbClr val="F56B16"/>
                          </a:solidFill>
                          <a:latin typeface="Arial"/>
                          <a:ea typeface="Arial"/>
                          <a:cs typeface="Arial"/>
                        </a:rPr>
                        <a:t>Gross weight</a:t>
                      </a:r>
                    </a:p>
                  </a:txBody>
                  <a:tcPr marL="91440" marR="91440" marT="45720" marB="45720">
                    <a:solidFill>
                      <a:srgbClr val="F0DDC7"/>
                    </a:solidFill>
                  </a:tcPr>
                </a:tc>
              </a:tr>
              <a:tr h="785813">
                <a:tc>
                  <a:txBody>
                    <a:bodyPr>
                      <a:noAutofit/>
                    </a:bodyPr>
                    <a:lstStyle/>
                    <a:p>
                      <a:r>
                        <a:rPr sz="1875" b="0">
                          <a:solidFill>
                            <a:srgbClr val="171B20"/>
                          </a:solidFill>
                          <a:latin typeface="Arial"/>
                          <a:ea typeface="Arial"/>
                          <a:cs typeface="Arial"/>
                        </a:rPr>
                        <a:t>Commercial invoice</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450.00 kg</a:t>
                      </a:r>
                    </a:p>
                  </a:txBody>
                  <a:tcPr marL="91440" marR="91440" marT="45720" marB="45720">
                    <a:solidFill>
                      <a:srgbClr val="FFF8EF"/>
                    </a:solidFill>
                  </a:tcPr>
                </a:tc>
              </a:tr>
              <a:tr h="785813">
                <a:tc>
                  <a:txBody>
                    <a:bodyPr>
                      <a:noAutofit/>
                    </a:bodyPr>
                    <a:lstStyle/>
                    <a:p>
                      <a:r>
                        <a:rPr sz="1875" b="0">
                          <a:solidFill>
                            <a:srgbClr val="171B20"/>
                          </a:solidFill>
                          <a:latin typeface="Arial"/>
                          <a:ea typeface="Arial"/>
                          <a:cs typeface="Arial"/>
                        </a:rPr>
                        <a:t>Packing list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450.00 kg</a:t>
                      </a:r>
                    </a:p>
                  </a:txBody>
                  <a:tcPr marL="91440" marR="91440" marT="45720" marB="45720">
                    <a:solidFill>
                      <a:srgbClr val="FFF8EF"/>
                    </a:solidFill>
                  </a:tcPr>
                </a:tc>
              </a:tr>
              <a:tr h="785813">
                <a:tc>
                  <a:txBody>
                    <a:bodyPr>
                      <a:noAutofit/>
                    </a:bodyPr>
                    <a:lstStyle/>
                    <a:p>
                      <a:r>
                        <a:rPr sz="1875" b="0">
                          <a:solidFill>
                            <a:srgbClr val="171B20"/>
                          </a:solidFill>
                          <a:latin typeface="Arial"/>
                          <a:ea typeface="Arial"/>
                          <a:cs typeface="Arial"/>
                        </a:rPr>
                        <a:t>Air waybill</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448.50 kg</a:t>
                      </a:r>
                    </a:p>
                  </a:txBody>
                  <a:tcPr marL="91440" marR="91440" marT="45720" marB="45720">
                    <a:solidFill>
                      <a:srgbClr val="FFF8EF"/>
                    </a:solidFill>
                  </a:tcPr>
                </a:tc>
              </a:tr>
            </a:tbl>
          </a:graphicData>
        </a:graphic>
      </p:graphicFrame>
      <p:sp>
        <p:nvSpPr>
          <p:cNvPr id="5" name="1.50 kg">
            <a:extLst xmlns:a="http://schemas.openxmlformats.org/drawingml/2006/main">
              <a:ext uri="{FF2B5EF4-FFF2-40B4-BE49-F238E27FC236}">
                <a16:creationId xmlns:a16="http://schemas.microsoft.com/office/drawing/2014/main" id="{D876E0A0-DCEF-4518-BE89-94C2DD59F7AE}"/>
              </a:ext>
            </a:extLst>
          </p:cNvPr>
          <p:cNvSpPr>
            <a:spLocks xmlns:a="http://schemas.openxmlformats.org/drawingml/2006/main" noGrp="1"/>
          </p:cNvSpPr>
          <p:nvPr/>
        </p:nvSpPr>
        <p:spPr>
          <a:xfrm xmlns:a="http://schemas.openxmlformats.org/drawingml/2006/main">
            <a:off x="8248650" y="2400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56B16"/>
                </a:solidFill>
                <a:latin typeface="Arial"/>
                <a:ea typeface="Arial"/>
                <a:cs typeface="Arial"/>
              </a:defRPr>
            </a:pPr>
            <a:r>
              <a:rPr sz="4200" b="1">
                <a:solidFill>
                  <a:srgbClr val="F56B16"/>
                </a:solidFill>
                <a:latin typeface="Arial"/>
                <a:ea typeface="Arial"/>
                <a:cs typeface="Arial"/>
              </a:rPr>
              <a:t>1.50 kg</a:t>
            </a:r>
          </a:p>
        </p:txBody>
      </p:sp>
      <p:sp>
        <p:nvSpPr>
          <p:cNvPr id="6" name="Difference to verify">
            <a:extLst xmlns:a="http://schemas.openxmlformats.org/drawingml/2006/main">
              <a:ext uri="{FF2B5EF4-FFF2-40B4-BE49-F238E27FC236}">
                <a16:creationId xmlns:a16="http://schemas.microsoft.com/office/drawing/2014/main" id="{BB36F169-84FB-4BF8-BA19-A212D4E603C5}"/>
              </a:ext>
            </a:extLst>
          </p:cNvPr>
          <p:cNvSpPr>
            <a:spLocks xmlns:a="http://schemas.openxmlformats.org/drawingml/2006/main" noGrp="1"/>
          </p:cNvSpPr>
          <p:nvPr/>
        </p:nvSpPr>
        <p:spPr>
          <a:xfrm xmlns:a="http://schemas.openxmlformats.org/drawingml/2006/main">
            <a:off x="8248650" y="33432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B20"/>
                </a:solidFill>
                <a:latin typeface="Arial"/>
                <a:ea typeface="Arial"/>
                <a:cs typeface="Arial"/>
              </a:defRPr>
            </a:pPr>
            <a:r>
              <a:rPr sz="2025" b="1">
                <a:solidFill>
                  <a:srgbClr val="171B20"/>
                </a:solidFill>
                <a:latin typeface="Arial"/>
                <a:ea typeface="Arial"/>
                <a:cs typeface="Arial"/>
              </a:rPr>
              <a:t>Difference to verify</a:t>
            </a:r>
          </a:p>
        </p:txBody>
      </p:sp>
      <p:sp>
        <p:nvSpPr>
          <p:cNvPr id="7" name="Consensus proposes a value.&#10;The reviewer verifies it.">
            <a:extLst xmlns:a="http://schemas.openxmlformats.org/drawingml/2006/main">
              <a:ext uri="{FF2B5EF4-FFF2-40B4-BE49-F238E27FC236}">
                <a16:creationId xmlns:a16="http://schemas.microsoft.com/office/drawing/2014/main" id="{0638A14B-3589-4C53-B9D3-57FD2952900F}"/>
              </a:ext>
            </a:extLst>
          </p:cNvPr>
          <p:cNvSpPr>
            <a:spLocks xmlns:a="http://schemas.openxmlformats.org/drawingml/2006/main" noGrp="1"/>
          </p:cNvSpPr>
          <p:nvPr/>
        </p:nvSpPr>
        <p:spPr>
          <a:xfrm xmlns:a="http://schemas.openxmlformats.org/drawingml/2006/main">
            <a:off x="8248650" y="4410075"/>
            <a:ext cx="3162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B20"/>
                </a:solidFill>
                <a:latin typeface="Arial"/>
                <a:ea typeface="Arial"/>
                <a:cs typeface="Arial"/>
              </a:defRPr>
            </a:pPr>
            <a:r>
              <a:rPr sz="1875" b="0">
                <a:solidFill>
                  <a:srgbClr val="171B20"/>
                </a:solidFill>
                <a:latin typeface="Arial"/>
                <a:ea typeface="Arial"/>
                <a:cs typeface="Arial"/>
              </a:rPr>
              <a:t>Consensus proposes a value.</a:t>
            </a:r>
          </a:p>
          <a:p xmlns:a="http://schemas.openxmlformats.org/drawingml/2006/main">
            <a:pPr>
              <a:defRPr sz="1875" b="0">
                <a:solidFill>
                  <a:srgbClr val="171B20"/>
                </a:solidFill>
                <a:latin typeface="Arial"/>
                <a:ea typeface="Arial"/>
                <a:cs typeface="Arial"/>
              </a:defRPr>
            </a:pPr>
            <a:r>
              <a:rPr sz="1875" b="0">
                <a:solidFill>
                  <a:srgbClr val="171B20"/>
                </a:solidFill>
                <a:latin typeface="Arial"/>
                <a:ea typeface="Arial"/>
                <a:cs typeface="Arial"/>
              </a:rPr>
              <a:t>The reviewer verifies it.</a:t>
            </a:r>
          </a:p>
        </p:txBody>
      </p:sp>
      <p:sp>
        <p:nvSpPr>
          <p:cNvPr id="8" name="Controlled repository example. It does not establish which s">
            <a:extLst xmlns:a="http://schemas.openxmlformats.org/drawingml/2006/main">
              <a:ext uri="{FF2B5EF4-FFF2-40B4-BE49-F238E27FC236}">
                <a16:creationId xmlns:a16="http://schemas.microsoft.com/office/drawing/2014/main" id="{1D33E14A-DE5A-40F5-9B8C-33C7EF84AFAB}"/>
              </a:ext>
            </a:extLst>
          </p:cNvPr>
          <p:cNvSpPr>
            <a:spLocks xmlns:a="http://schemas.openxmlformats.org/drawingml/2006/main" noGrp="1"/>
          </p:cNvSpPr>
          <p:nvPr/>
        </p:nvSpPr>
        <p:spPr>
          <a:xfrm xmlns:a="http://schemas.openxmlformats.org/drawingml/2006/main">
            <a:off x="609600" y="56578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C5E60"/>
                </a:solidFill>
                <a:latin typeface="Arial"/>
                <a:ea typeface="Arial"/>
                <a:cs typeface="Arial"/>
              </a:defRPr>
            </a:pPr>
            <a:r>
              <a:rPr sz="1500" b="0">
                <a:solidFill>
                  <a:srgbClr val="5C5E60"/>
                </a:solidFill>
                <a:latin typeface="Arial"/>
                <a:ea typeface="Arial"/>
                <a:cs typeface="Arial"/>
              </a:rPr>
              <a:t>Controlled repository example. It does not establish which source is factually correct.</a:t>
            </a:r>
          </a:p>
        </p:txBody>
      </p:sp>
    </p:spTree>
    <p:extLst>
      <p:ext uri="{BB962C8B-B14F-4D97-AF65-F5344CB8AC3E}">
        <p14:creationId xmlns:p14="http://schemas.microsoft.com/office/powerpoint/2010/main" val="2119947998"/>
      </p:ext>
    </p:extLst>
  </p:cSld>
</p:sld>
</file>

<file path=ppt/slides/slide4.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19" name="CLEARANCEX">
            <a:extLst xmlns:a="http://schemas.openxmlformats.org/drawingml/2006/main">
              <a:ext uri="{FF2B5EF4-FFF2-40B4-BE49-F238E27FC236}">
                <a16:creationId xmlns:a16="http://schemas.microsoft.com/office/drawing/2014/main" id="{6212FD99-D5C2-4EC8-96EF-89EA1B887434}"/>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CLEARANCEX</a:t>
            </a:r>
          </a:p>
        </p:txBody>
      </p:sp>
      <p:sp>
        <p:nvSpPr>
          <p:cNvPr id="2" name="The reviewer workflow">
            <a:extLst xmlns:a="http://schemas.openxmlformats.org/drawingml/2006/main">
              <a:ext uri="{FF2B5EF4-FFF2-40B4-BE49-F238E27FC236}">
                <a16:creationId xmlns:a16="http://schemas.microsoft.com/office/drawing/2014/main" id="{45AE970F-2E23-4BE7-A504-40936E438C1F}"/>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The reviewer workflow</a:t>
            </a:r>
          </a:p>
        </p:txBody>
      </p:sp>
      <p:sp>
        <p:nvSpPr>
          <p:cNvPr id="3" name="04">
            <a:extLst xmlns:a="http://schemas.openxmlformats.org/drawingml/2006/main">
              <a:ext uri="{FF2B5EF4-FFF2-40B4-BE49-F238E27FC236}">
                <a16:creationId xmlns:a16="http://schemas.microsoft.com/office/drawing/2014/main" id="{943809C2-28C1-4716-A74F-F911BEA71C76}"/>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04</a:t>
            </a:r>
          </a:p>
        </p:txBody>
      </p:sp>
      <p:sp>
        <p:nvSpPr>
          <p:cNvPr id="4" name="01">
            <a:extLst xmlns:a="http://schemas.openxmlformats.org/drawingml/2006/main">
              <a:ext uri="{FF2B5EF4-FFF2-40B4-BE49-F238E27FC236}">
                <a16:creationId xmlns:a16="http://schemas.microsoft.com/office/drawing/2014/main" id="{DAB08C2E-D807-49A0-A0D2-33219FA8F1CA}"/>
              </a:ext>
            </a:extLst>
          </p:cNvPr>
          <p:cNvSpPr>
            <a:spLocks xmlns:a="http://schemas.openxmlformats.org/drawingml/2006/main" noGrp="1"/>
          </p:cNvSpPr>
          <p:nvPr/>
        </p:nvSpPr>
        <p:spPr>
          <a:xfrm xmlns:a="http://schemas.openxmlformats.org/drawingml/2006/main">
            <a:off x="628650" y="19812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56B16"/>
                </a:solidFill>
                <a:latin typeface="Arial"/>
                <a:ea typeface="Arial"/>
                <a:cs typeface="Arial"/>
              </a:defRPr>
            </a:pPr>
            <a:r>
              <a:rPr sz="2550" b="1">
                <a:solidFill>
                  <a:srgbClr val="F56B16"/>
                </a:solidFill>
                <a:latin typeface="Arial"/>
                <a:ea typeface="Arial"/>
                <a:cs typeface="Arial"/>
              </a:rPr>
              <a:t>01</a:t>
            </a:r>
          </a:p>
        </p:txBody>
      </p:sp>
      <p:sp>
        <p:nvSpPr>
          <p:cNvPr id="5" name="Read">
            <a:extLst xmlns:a="http://schemas.openxmlformats.org/drawingml/2006/main">
              <a:ext uri="{FF2B5EF4-FFF2-40B4-BE49-F238E27FC236}">
                <a16:creationId xmlns:a16="http://schemas.microsoft.com/office/drawing/2014/main" id="{A647A3CA-1BCD-4C0E-AEB0-582F0D7A5B33}"/>
              </a:ext>
            </a:extLst>
          </p:cNvPr>
          <p:cNvSpPr>
            <a:spLocks xmlns:a="http://schemas.openxmlformats.org/drawingml/2006/main" noGrp="1"/>
          </p:cNvSpPr>
          <p:nvPr/>
        </p:nvSpPr>
        <p:spPr>
          <a:xfrm xmlns:a="http://schemas.openxmlformats.org/drawingml/2006/main">
            <a:off x="1619250" y="19812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8EF"/>
                </a:solidFill>
                <a:latin typeface="Arial"/>
                <a:ea typeface="Arial"/>
                <a:cs typeface="Arial"/>
              </a:defRPr>
            </a:pPr>
            <a:r>
              <a:rPr sz="2325" b="1">
                <a:solidFill>
                  <a:srgbClr val="FFF8EF"/>
                </a:solidFill>
                <a:latin typeface="Arial"/>
                <a:ea typeface="Arial"/>
                <a:cs typeface="Arial"/>
              </a:rPr>
              <a:t>Read</a:t>
            </a:r>
          </a:p>
        </p:txBody>
      </p:sp>
      <p:sp>
        <p:nvSpPr>
          <p:cNvPr id="6" name="Upload PDFs and extract source values">
            <a:extLst xmlns:a="http://schemas.openxmlformats.org/drawingml/2006/main">
              <a:ext uri="{FF2B5EF4-FFF2-40B4-BE49-F238E27FC236}">
                <a16:creationId xmlns:a16="http://schemas.microsoft.com/office/drawing/2014/main" id="{53F44A15-C684-4815-997E-45F7A2D31D35}"/>
              </a:ext>
            </a:extLst>
          </p:cNvPr>
          <p:cNvSpPr>
            <a:spLocks xmlns:a="http://schemas.openxmlformats.org/drawingml/2006/main" noGrp="1"/>
          </p:cNvSpPr>
          <p:nvPr/>
        </p:nvSpPr>
        <p:spPr>
          <a:xfrm xmlns:a="http://schemas.openxmlformats.org/drawingml/2006/main">
            <a:off x="4010025" y="2019300"/>
            <a:ext cx="731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8EF"/>
                </a:solidFill>
                <a:latin typeface="Arial"/>
                <a:ea typeface="Arial"/>
                <a:cs typeface="Arial"/>
              </a:defRPr>
            </a:pPr>
            <a:r>
              <a:rPr sz="2025" b="0">
                <a:solidFill>
                  <a:srgbClr val="FFF8EF"/>
                </a:solidFill>
                <a:latin typeface="Arial"/>
                <a:ea typeface="Arial"/>
                <a:cs typeface="Arial"/>
              </a:rPr>
              <a:t>Upload PDFs and extract source values</a:t>
            </a:r>
          </a:p>
        </p:txBody>
      </p:sp>
      <p:sp>
        <p:nvSpPr>
          <p:cNvPr id="7" name="02">
            <a:extLst xmlns:a="http://schemas.openxmlformats.org/drawingml/2006/main">
              <a:ext uri="{FF2B5EF4-FFF2-40B4-BE49-F238E27FC236}">
                <a16:creationId xmlns:a16="http://schemas.microsoft.com/office/drawing/2014/main" id="{E175AF05-71EB-48B3-9A2C-E013906430C8}"/>
              </a:ext>
            </a:extLst>
          </p:cNvPr>
          <p:cNvSpPr>
            <a:spLocks xmlns:a="http://schemas.openxmlformats.org/drawingml/2006/main" noGrp="1"/>
          </p:cNvSpPr>
          <p:nvPr/>
        </p:nvSpPr>
        <p:spPr>
          <a:xfrm xmlns:a="http://schemas.openxmlformats.org/drawingml/2006/main">
            <a:off x="628650" y="27813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56B16"/>
                </a:solidFill>
                <a:latin typeface="Arial"/>
                <a:ea typeface="Arial"/>
                <a:cs typeface="Arial"/>
              </a:defRPr>
            </a:pPr>
            <a:r>
              <a:rPr sz="2550" b="1">
                <a:solidFill>
                  <a:srgbClr val="F56B16"/>
                </a:solidFill>
                <a:latin typeface="Arial"/>
                <a:ea typeface="Arial"/>
                <a:cs typeface="Arial"/>
              </a:rPr>
              <a:t>02</a:t>
            </a:r>
          </a:p>
        </p:txBody>
      </p:sp>
      <p:sp>
        <p:nvSpPr>
          <p:cNvPr id="8" name="Compare">
            <a:extLst xmlns:a="http://schemas.openxmlformats.org/drawingml/2006/main">
              <a:ext uri="{FF2B5EF4-FFF2-40B4-BE49-F238E27FC236}">
                <a16:creationId xmlns:a16="http://schemas.microsoft.com/office/drawing/2014/main" id="{759338E0-CB67-4824-90B3-2C90FA65DB57}"/>
              </a:ext>
            </a:extLst>
          </p:cNvPr>
          <p:cNvSpPr>
            <a:spLocks xmlns:a="http://schemas.openxmlformats.org/drawingml/2006/main" noGrp="1"/>
          </p:cNvSpPr>
          <p:nvPr/>
        </p:nvSpPr>
        <p:spPr>
          <a:xfrm xmlns:a="http://schemas.openxmlformats.org/drawingml/2006/main">
            <a:off x="1619250" y="27813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8EF"/>
                </a:solidFill>
                <a:latin typeface="Arial"/>
                <a:ea typeface="Arial"/>
                <a:cs typeface="Arial"/>
              </a:defRPr>
            </a:pPr>
            <a:r>
              <a:rPr sz="2325" b="1">
                <a:solidFill>
                  <a:srgbClr val="FFF8EF"/>
                </a:solidFill>
                <a:latin typeface="Arial"/>
                <a:ea typeface="Arial"/>
                <a:cs typeface="Arial"/>
              </a:rPr>
              <a:t>Compare</a:t>
            </a:r>
          </a:p>
        </p:txBody>
      </p:sp>
      <p:sp>
        <p:nvSpPr>
          <p:cNvPr id="9" name="Normalize values and preserve every assertion">
            <a:extLst xmlns:a="http://schemas.openxmlformats.org/drawingml/2006/main">
              <a:ext uri="{FF2B5EF4-FFF2-40B4-BE49-F238E27FC236}">
                <a16:creationId xmlns:a16="http://schemas.microsoft.com/office/drawing/2014/main" id="{5D625CAF-2E8D-42CE-B794-3CCD0C5940E4}"/>
              </a:ext>
            </a:extLst>
          </p:cNvPr>
          <p:cNvSpPr>
            <a:spLocks xmlns:a="http://schemas.openxmlformats.org/drawingml/2006/main" noGrp="1"/>
          </p:cNvSpPr>
          <p:nvPr/>
        </p:nvSpPr>
        <p:spPr>
          <a:xfrm xmlns:a="http://schemas.openxmlformats.org/drawingml/2006/main">
            <a:off x="4010025" y="2819400"/>
            <a:ext cx="731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8EF"/>
                </a:solidFill>
                <a:latin typeface="Arial"/>
                <a:ea typeface="Arial"/>
                <a:cs typeface="Arial"/>
              </a:defRPr>
            </a:pPr>
            <a:r>
              <a:rPr sz="2025" b="0">
                <a:solidFill>
                  <a:srgbClr val="FFF8EF"/>
                </a:solidFill>
                <a:latin typeface="Arial"/>
                <a:ea typeface="Arial"/>
                <a:cs typeface="Arial"/>
              </a:rPr>
              <a:t>Normalize values and preserve every assertion</a:t>
            </a:r>
          </a:p>
        </p:txBody>
      </p:sp>
      <p:sp>
        <p:nvSpPr>
          <p:cNvPr id="10" name="03">
            <a:extLst xmlns:a="http://schemas.openxmlformats.org/drawingml/2006/main">
              <a:ext uri="{FF2B5EF4-FFF2-40B4-BE49-F238E27FC236}">
                <a16:creationId xmlns:a16="http://schemas.microsoft.com/office/drawing/2014/main" id="{646142B0-9265-4581-ACE0-4D355684FE88}"/>
              </a:ext>
            </a:extLst>
          </p:cNvPr>
          <p:cNvSpPr>
            <a:spLocks xmlns:a="http://schemas.openxmlformats.org/drawingml/2006/main" noGrp="1"/>
          </p:cNvSpPr>
          <p:nvPr/>
        </p:nvSpPr>
        <p:spPr>
          <a:xfrm xmlns:a="http://schemas.openxmlformats.org/drawingml/2006/main">
            <a:off x="628650" y="35814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56B16"/>
                </a:solidFill>
                <a:latin typeface="Arial"/>
                <a:ea typeface="Arial"/>
                <a:cs typeface="Arial"/>
              </a:defRPr>
            </a:pPr>
            <a:r>
              <a:rPr sz="2550" b="1">
                <a:solidFill>
                  <a:srgbClr val="F56B16"/>
                </a:solidFill>
                <a:latin typeface="Arial"/>
                <a:ea typeface="Arial"/>
                <a:cs typeface="Arial"/>
              </a:rPr>
              <a:t>03</a:t>
            </a:r>
          </a:p>
        </p:txBody>
      </p:sp>
      <p:sp>
        <p:nvSpPr>
          <p:cNvPr id="11" name="Explain">
            <a:extLst xmlns:a="http://schemas.openxmlformats.org/drawingml/2006/main">
              <a:ext uri="{FF2B5EF4-FFF2-40B4-BE49-F238E27FC236}">
                <a16:creationId xmlns:a16="http://schemas.microsoft.com/office/drawing/2014/main" id="{0E714596-7B77-4486-AD5B-6024D377536B}"/>
              </a:ext>
            </a:extLst>
          </p:cNvPr>
          <p:cNvSpPr>
            <a:spLocks xmlns:a="http://schemas.openxmlformats.org/drawingml/2006/main" noGrp="1"/>
          </p:cNvSpPr>
          <p:nvPr/>
        </p:nvSpPr>
        <p:spPr>
          <a:xfrm xmlns:a="http://schemas.openxmlformats.org/drawingml/2006/main">
            <a:off x="1619250" y="35814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8EF"/>
                </a:solidFill>
                <a:latin typeface="Arial"/>
                <a:ea typeface="Arial"/>
                <a:cs typeface="Arial"/>
              </a:defRPr>
            </a:pPr>
            <a:r>
              <a:rPr sz="2325" b="1">
                <a:solidFill>
                  <a:srgbClr val="FFF8EF"/>
                </a:solidFill>
                <a:latin typeface="Arial"/>
                <a:ea typeface="Arial"/>
                <a:cs typeface="Arial"/>
              </a:rPr>
              <a:t>Explain</a:t>
            </a:r>
          </a:p>
        </p:txBody>
      </p:sp>
      <p:sp>
        <p:nvSpPr>
          <p:cNvPr id="12" name="Show the conflict and its source evidence">
            <a:extLst xmlns:a="http://schemas.openxmlformats.org/drawingml/2006/main">
              <a:ext uri="{FF2B5EF4-FFF2-40B4-BE49-F238E27FC236}">
                <a16:creationId xmlns:a16="http://schemas.microsoft.com/office/drawing/2014/main" id="{46B04EA3-66EB-4D90-BF18-68478F65173E}"/>
              </a:ext>
            </a:extLst>
          </p:cNvPr>
          <p:cNvSpPr>
            <a:spLocks xmlns:a="http://schemas.openxmlformats.org/drawingml/2006/main" noGrp="1"/>
          </p:cNvSpPr>
          <p:nvPr/>
        </p:nvSpPr>
        <p:spPr>
          <a:xfrm xmlns:a="http://schemas.openxmlformats.org/drawingml/2006/main">
            <a:off x="4010025" y="3619500"/>
            <a:ext cx="731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8EF"/>
                </a:solidFill>
                <a:latin typeface="Arial"/>
                <a:ea typeface="Arial"/>
                <a:cs typeface="Arial"/>
              </a:defRPr>
            </a:pPr>
            <a:r>
              <a:rPr sz="2025" b="0">
                <a:solidFill>
                  <a:srgbClr val="FFF8EF"/>
                </a:solidFill>
                <a:latin typeface="Arial"/>
                <a:ea typeface="Arial"/>
                <a:cs typeface="Arial"/>
              </a:rPr>
              <a:t>Show the conflict and its source evidence</a:t>
            </a:r>
          </a:p>
        </p:txBody>
      </p:sp>
      <p:sp>
        <p:nvSpPr>
          <p:cNvPr id="13" name="04">
            <a:extLst xmlns:a="http://schemas.openxmlformats.org/drawingml/2006/main">
              <a:ext uri="{FF2B5EF4-FFF2-40B4-BE49-F238E27FC236}">
                <a16:creationId xmlns:a16="http://schemas.microsoft.com/office/drawing/2014/main" id="{BECC684B-F6C7-4F5C-9462-092BB63160C0}"/>
              </a:ext>
            </a:extLst>
          </p:cNvPr>
          <p:cNvSpPr>
            <a:spLocks xmlns:a="http://schemas.openxmlformats.org/drawingml/2006/main" noGrp="1"/>
          </p:cNvSpPr>
          <p:nvPr/>
        </p:nvSpPr>
        <p:spPr>
          <a:xfrm xmlns:a="http://schemas.openxmlformats.org/drawingml/2006/main">
            <a:off x="628650" y="43815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56B16"/>
                </a:solidFill>
                <a:latin typeface="Arial"/>
                <a:ea typeface="Arial"/>
                <a:cs typeface="Arial"/>
              </a:defRPr>
            </a:pPr>
            <a:r>
              <a:rPr sz="2550" b="1">
                <a:solidFill>
                  <a:srgbClr val="F56B16"/>
                </a:solidFill>
                <a:latin typeface="Arial"/>
                <a:ea typeface="Arial"/>
                <a:cs typeface="Arial"/>
              </a:rPr>
              <a:t>04</a:t>
            </a:r>
          </a:p>
        </p:txBody>
      </p:sp>
      <p:sp>
        <p:nvSpPr>
          <p:cNvPr id="14" name="Review">
            <a:extLst xmlns:a="http://schemas.openxmlformats.org/drawingml/2006/main">
              <a:ext uri="{FF2B5EF4-FFF2-40B4-BE49-F238E27FC236}">
                <a16:creationId xmlns:a16="http://schemas.microsoft.com/office/drawing/2014/main" id="{71BA49FF-D22A-4EDE-8603-A1F59DABA6F5}"/>
              </a:ext>
            </a:extLst>
          </p:cNvPr>
          <p:cNvSpPr>
            <a:spLocks xmlns:a="http://schemas.openxmlformats.org/drawingml/2006/main" noGrp="1"/>
          </p:cNvSpPr>
          <p:nvPr/>
        </p:nvSpPr>
        <p:spPr>
          <a:xfrm xmlns:a="http://schemas.openxmlformats.org/drawingml/2006/main">
            <a:off x="1619250" y="43815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8EF"/>
                </a:solidFill>
                <a:latin typeface="Arial"/>
                <a:ea typeface="Arial"/>
                <a:cs typeface="Arial"/>
              </a:defRPr>
            </a:pPr>
            <a:r>
              <a:rPr sz="2325" b="1">
                <a:solidFill>
                  <a:srgbClr val="FFF8EF"/>
                </a:solidFill>
                <a:latin typeface="Arial"/>
                <a:ea typeface="Arial"/>
                <a:cs typeface="Arial"/>
              </a:rPr>
              <a:t>Review</a:t>
            </a:r>
          </a:p>
        </p:txBody>
      </p:sp>
      <p:sp>
        <p:nvSpPr>
          <p:cNvPr id="15" name="Save the reviewer’s verified choice">
            <a:extLst xmlns:a="http://schemas.openxmlformats.org/drawingml/2006/main">
              <a:ext uri="{FF2B5EF4-FFF2-40B4-BE49-F238E27FC236}">
                <a16:creationId xmlns:a16="http://schemas.microsoft.com/office/drawing/2014/main" id="{91514C59-8B4C-442E-9C80-4D1F7217A55D}"/>
              </a:ext>
            </a:extLst>
          </p:cNvPr>
          <p:cNvSpPr>
            <a:spLocks xmlns:a="http://schemas.openxmlformats.org/drawingml/2006/main" noGrp="1"/>
          </p:cNvSpPr>
          <p:nvPr/>
        </p:nvSpPr>
        <p:spPr>
          <a:xfrm xmlns:a="http://schemas.openxmlformats.org/drawingml/2006/main">
            <a:off x="4010025" y="4419600"/>
            <a:ext cx="731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8EF"/>
                </a:solidFill>
                <a:latin typeface="Arial"/>
                <a:ea typeface="Arial"/>
                <a:cs typeface="Arial"/>
              </a:defRPr>
            </a:pPr>
            <a:r>
              <a:rPr sz="2025" b="0">
                <a:solidFill>
                  <a:srgbClr val="FFF8EF"/>
                </a:solidFill>
                <a:latin typeface="Arial"/>
                <a:ea typeface="Arial"/>
                <a:cs typeface="Arial"/>
              </a:rPr>
              <a:t>Save the reviewer’s verified choice</a:t>
            </a:r>
          </a:p>
        </p:txBody>
      </p:sp>
      <p:sp>
        <p:nvSpPr>
          <p:cNvPr id="16" name="05">
            <a:extLst xmlns:a="http://schemas.openxmlformats.org/drawingml/2006/main">
              <a:ext uri="{FF2B5EF4-FFF2-40B4-BE49-F238E27FC236}">
                <a16:creationId xmlns:a16="http://schemas.microsoft.com/office/drawing/2014/main" id="{12C2E465-17EA-44FE-A223-D3F97445992C}"/>
              </a:ext>
            </a:extLst>
          </p:cNvPr>
          <p:cNvSpPr>
            <a:spLocks xmlns:a="http://schemas.openxmlformats.org/drawingml/2006/main" noGrp="1"/>
          </p:cNvSpPr>
          <p:nvPr/>
        </p:nvSpPr>
        <p:spPr>
          <a:xfrm xmlns:a="http://schemas.openxmlformats.org/drawingml/2006/main">
            <a:off x="628650" y="5181600"/>
            <a:ext cx="76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56B16"/>
                </a:solidFill>
                <a:latin typeface="Arial"/>
                <a:ea typeface="Arial"/>
                <a:cs typeface="Arial"/>
              </a:defRPr>
            </a:pPr>
            <a:r>
              <a:rPr sz="2550" b="1">
                <a:solidFill>
                  <a:srgbClr val="F56B16"/>
                </a:solidFill>
                <a:latin typeface="Arial"/>
                <a:ea typeface="Arial"/>
                <a:cs typeface="Arial"/>
              </a:rPr>
              <a:t>05</a:t>
            </a:r>
          </a:p>
        </p:txBody>
      </p:sp>
      <p:sp>
        <p:nvSpPr>
          <p:cNvPr id="17" name="Prepare">
            <a:extLst xmlns:a="http://schemas.openxmlformats.org/drawingml/2006/main">
              <a:ext uri="{FF2B5EF4-FFF2-40B4-BE49-F238E27FC236}">
                <a16:creationId xmlns:a16="http://schemas.microsoft.com/office/drawing/2014/main" id="{45228E1F-42EA-4538-9542-E902F52B7D31}"/>
              </a:ext>
            </a:extLst>
          </p:cNvPr>
          <p:cNvSpPr>
            <a:spLocks xmlns:a="http://schemas.openxmlformats.org/drawingml/2006/main" noGrp="1"/>
          </p:cNvSpPr>
          <p:nvPr/>
        </p:nvSpPr>
        <p:spPr>
          <a:xfrm xmlns:a="http://schemas.openxmlformats.org/drawingml/2006/main">
            <a:off x="1619250" y="51816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8EF"/>
                </a:solidFill>
                <a:latin typeface="Arial"/>
                <a:ea typeface="Arial"/>
                <a:cs typeface="Arial"/>
              </a:defRPr>
            </a:pPr>
            <a:r>
              <a:rPr sz="2325" b="1">
                <a:solidFill>
                  <a:srgbClr val="FFF8EF"/>
                </a:solidFill>
                <a:latin typeface="Arial"/>
                <a:ea typeface="Arial"/>
                <a:cs typeface="Arial"/>
              </a:rPr>
              <a:t>Prepare</a:t>
            </a:r>
          </a:p>
        </p:txBody>
      </p:sp>
      <p:sp>
        <p:nvSpPr>
          <p:cNvPr id="18" name="Check blockers before generating XML">
            <a:extLst xmlns:a="http://schemas.openxmlformats.org/drawingml/2006/main">
              <a:ext uri="{FF2B5EF4-FFF2-40B4-BE49-F238E27FC236}">
                <a16:creationId xmlns:a16="http://schemas.microsoft.com/office/drawing/2014/main" id="{8AD4CD0A-3F63-4BC0-A626-FC3FB17B23F0}"/>
              </a:ext>
            </a:extLst>
          </p:cNvPr>
          <p:cNvSpPr>
            <a:spLocks xmlns:a="http://schemas.openxmlformats.org/drawingml/2006/main" noGrp="1"/>
          </p:cNvSpPr>
          <p:nvPr/>
        </p:nvSpPr>
        <p:spPr>
          <a:xfrm xmlns:a="http://schemas.openxmlformats.org/drawingml/2006/main">
            <a:off x="4010025" y="5219700"/>
            <a:ext cx="731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8EF"/>
                </a:solidFill>
                <a:latin typeface="Arial"/>
                <a:ea typeface="Arial"/>
                <a:cs typeface="Arial"/>
              </a:defRPr>
            </a:pPr>
            <a:r>
              <a:rPr sz="2025" b="0">
                <a:solidFill>
                  <a:srgbClr val="FFF8EF"/>
                </a:solidFill>
                <a:latin typeface="Arial"/>
                <a:ea typeface="Arial"/>
                <a:cs typeface="Arial"/>
              </a:rPr>
              <a:t>Check blockers before generating XML</a:t>
            </a:r>
          </a:p>
        </p:txBody>
      </p:sp>
    </p:spTree>
    <p:extLst>
      <p:ext uri="{BB962C8B-B14F-4D97-AF65-F5344CB8AC3E}">
        <p14:creationId xmlns:p14="http://schemas.microsoft.com/office/powerpoint/2010/main" val="846226835"/>
      </p:ext>
    </p:extLst>
  </p:cSld>
</p:sld>
</file>

<file path=ppt/slides/slide5.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6" name="CLEARANCEX">
            <a:extLst xmlns:a="http://schemas.openxmlformats.org/drawingml/2006/main">
              <a:ext uri="{FF2B5EF4-FFF2-40B4-BE49-F238E27FC236}">
                <a16:creationId xmlns:a16="http://schemas.microsoft.com/office/drawing/2014/main" id="{6E2040DA-BF9B-426A-9465-9C24E0B8DA18}"/>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Architecture">
            <a:extLst xmlns:a="http://schemas.openxmlformats.org/drawingml/2006/main">
              <a:ext uri="{FF2B5EF4-FFF2-40B4-BE49-F238E27FC236}">
                <a16:creationId xmlns:a16="http://schemas.microsoft.com/office/drawing/2014/main" id="{FE3D655F-579F-4995-841B-41C69E27D6FF}"/>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Architecture</a:t>
            </a:r>
          </a:p>
        </p:txBody>
      </p:sp>
      <p:sp>
        <p:nvSpPr>
          <p:cNvPr id="3" name="05">
            <a:extLst xmlns:a="http://schemas.openxmlformats.org/drawingml/2006/main">
              <a:ext uri="{FF2B5EF4-FFF2-40B4-BE49-F238E27FC236}">
                <a16:creationId xmlns:a16="http://schemas.microsoft.com/office/drawing/2014/main" id="{E33D4667-60AB-4539-A804-1AFF774188E7}"/>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05</a:t>
            </a:r>
          </a:p>
        </p:txBody>
      </p:sp>
      <p:graphicFrame>
        <p:nvGraphicFramePr>
          <p:cNvPr id="9" name=""/>
          <p:cNvGraphicFramePr/>
          <p:nvPr/>
        </p:nvGraphicFramePr>
        <p:xfrm>
          <a:off xmlns:a="http://schemas.openxmlformats.org/drawingml/2006/main" x="609600" y="2009775"/>
          <a:ext xmlns:a="http://schemas.openxmlformats.org/drawingml/2006/main" cx="10972800" cy="3771900"/>
        </p:xfrm>
        <a:graphic xmlns:a="http://schemas.openxmlformats.org/drawingml/2006/main">
          <a:graphicData uri="http://schemas.openxmlformats.org/drawingml/2006/table">
            <a:tbl>
              <a:tblPr/>
              <a:tblGrid>
                <a:gridCol w="2495550"/>
                <a:gridCol w="3543300"/>
                <a:gridCol w="4933950"/>
              </a:tblGrid>
              <a:tr h="628650">
                <a:tc>
                  <a:txBody>
                    <a:bodyPr>
                      <a:noAutofit/>
                    </a:bodyPr>
                    <a:lstStyle/>
                    <a:p>
                      <a:r>
                        <a:rPr sz="1800" b="1">
                          <a:solidFill>
                            <a:srgbClr val="F56B16"/>
                          </a:solidFill>
                          <a:latin typeface="Arial"/>
                          <a:ea typeface="Arial"/>
                          <a:cs typeface="Arial"/>
                        </a:rPr>
                        <a:t>Layer</a:t>
                      </a:r>
                    </a:p>
                  </a:txBody>
                  <a:tcPr marL="91440" marR="91440" marT="45720" marB="45720">
                    <a:solidFill>
                      <a:srgbClr val="F0DDC7"/>
                    </a:solidFill>
                  </a:tcPr>
                </a:tc>
                <a:tc>
                  <a:txBody>
                    <a:bodyPr>
                      <a:noAutofit/>
                    </a:bodyPr>
                    <a:lstStyle/>
                    <a:p>
                      <a:r>
                        <a:rPr sz="1800" b="1">
                          <a:solidFill>
                            <a:srgbClr val="F56B16"/>
                          </a:solidFill>
                          <a:latin typeface="Arial"/>
                          <a:ea typeface="Arial"/>
                          <a:cs typeface="Arial"/>
                        </a:rPr>
                        <a:t>Implementation</a:t>
                      </a:r>
                    </a:p>
                  </a:txBody>
                  <a:tcPr marL="91440" marR="91440" marT="45720" marB="45720">
                    <a:solidFill>
                      <a:srgbClr val="F0DDC7"/>
                    </a:solidFill>
                  </a:tcPr>
                </a:tc>
                <a:tc>
                  <a:txBody>
                    <a:bodyPr>
                      <a:noAutofit/>
                    </a:bodyPr>
                    <a:lstStyle/>
                    <a:p>
                      <a:r>
                        <a:rPr sz="1800" b="1">
                          <a:solidFill>
                            <a:srgbClr val="F56B16"/>
                          </a:solidFill>
                          <a:latin typeface="Arial"/>
                          <a:ea typeface="Arial"/>
                          <a:cs typeface="Arial"/>
                        </a:rPr>
                        <a:t>Responsibility</a:t>
                      </a:r>
                    </a:p>
                  </a:txBody>
                  <a:tcPr marL="91440" marR="91440" marT="45720" marB="45720">
                    <a:solidFill>
                      <a:srgbClr val="F0DDC7"/>
                    </a:solidFill>
                  </a:tcPr>
                </a:tc>
              </a:tr>
              <a:tr h="628650">
                <a:tc>
                  <a:txBody>
                    <a:bodyPr>
                      <a:noAutofit/>
                    </a:bodyPr>
                    <a:lstStyle/>
                    <a:p>
                      <a:r>
                        <a:rPr sz="1800" b="0">
                          <a:solidFill>
                            <a:srgbClr val="171B20"/>
                          </a:solidFill>
                          <a:latin typeface="Arial"/>
                          <a:ea typeface="Arial"/>
                          <a:cs typeface="Arial"/>
                        </a:rPr>
                        <a:t>Review interface</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React + TypeScript</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Inspect evidence and record decisions</a:t>
                      </a:r>
                    </a:p>
                  </a:txBody>
                  <a:tcPr marL="91440" marR="91440" marT="45720" marB="45720">
                    <a:solidFill>
                      <a:srgbClr val="FFF8EF"/>
                    </a:solidFill>
                  </a:tcPr>
                </a:tc>
              </a:tr>
              <a:tr h="628650">
                <a:tc>
                  <a:txBody>
                    <a:bodyPr>
                      <a:noAutofit/>
                    </a:bodyPr>
                    <a:lstStyle/>
                    <a:p>
                      <a:r>
                        <a:rPr sz="1800" b="0">
                          <a:solidFill>
                            <a:srgbClr val="171B20"/>
                          </a:solidFill>
                          <a:latin typeface="Arial"/>
                          <a:ea typeface="Arial"/>
                          <a:cs typeface="Arial"/>
                        </a:rPr>
                        <a:t>Application API</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FastAPI</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Dossier and review workflow</a:t>
                      </a:r>
                    </a:p>
                  </a:txBody>
                  <a:tcPr marL="91440" marR="91440" marT="45720" marB="45720">
                    <a:solidFill>
                      <a:srgbClr val="FFF8EF"/>
                    </a:solidFill>
                  </a:tcPr>
                </a:tc>
              </a:tr>
              <a:tr h="628650">
                <a:tc>
                  <a:txBody>
                    <a:bodyPr>
                      <a:noAutofit/>
                    </a:bodyPr>
                    <a:lstStyle/>
                    <a:p>
                      <a:r>
                        <a:rPr sz="1800" b="0">
                          <a:solidFill>
                            <a:srgbClr val="171B20"/>
                          </a:solidFill>
                          <a:latin typeface="Arial"/>
                          <a:ea typeface="Arial"/>
                          <a:cs typeface="Arial"/>
                        </a:rPr>
                        <a:t>Interpretation</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PaddleOCR + model fallback</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Extract text, locations, and fields</a:t>
                      </a:r>
                    </a:p>
                  </a:txBody>
                  <a:tcPr marL="91440" marR="91440" marT="45720" marB="45720">
                    <a:solidFill>
                      <a:srgbClr val="FFF8EF"/>
                    </a:solidFill>
                  </a:tcPr>
                </a:tc>
              </a:tr>
              <a:tr h="628650">
                <a:tc>
                  <a:txBody>
                    <a:bodyPr>
                      <a:noAutofit/>
                    </a:bodyPr>
                    <a:lstStyle/>
                    <a:p>
                      <a:r>
                        <a:rPr sz="1800" b="0">
                          <a:solidFill>
                            <a:srgbClr val="171B20"/>
                          </a:solidFill>
                          <a:latin typeface="Arial"/>
                          <a:ea typeface="Arial"/>
                          <a:cs typeface="Arial"/>
                        </a:rPr>
                        <a:t>Reasoning</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NetworkX + explicit rules</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Compare source assertions</a:t>
                      </a:r>
                    </a:p>
                  </a:txBody>
                  <a:tcPr marL="91440" marR="91440" marT="45720" marB="45720">
                    <a:solidFill>
                      <a:srgbClr val="FFF8EF"/>
                    </a:solidFill>
                  </a:tcPr>
                </a:tc>
              </a:tr>
              <a:tr h="628650">
                <a:tc>
                  <a:txBody>
                    <a:bodyPr>
                      <a:noAutofit/>
                    </a:bodyPr>
                    <a:lstStyle/>
                    <a:p>
                      <a:r>
                        <a:rPr sz="1800" b="0">
                          <a:solidFill>
                            <a:srgbClr val="171B20"/>
                          </a:solidFill>
                          <a:latin typeface="Arial"/>
                          <a:ea typeface="Arial"/>
                          <a:cs typeface="Arial"/>
                        </a:rPr>
                        <a:t>Persistence</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PostgreSQL</a:t>
                      </a:r>
                    </a:p>
                  </a:txBody>
                  <a:tcPr marL="91440" marR="91440" marT="45720" marB="45720">
                    <a:solidFill>
                      <a:srgbClr val="FFF8EF"/>
                    </a:solidFill>
                  </a:tcPr>
                </a:tc>
                <a:tc>
                  <a:txBody>
                    <a:bodyPr>
                      <a:noAutofit/>
                    </a:bodyPr>
                    <a:lstStyle/>
                    <a:p>
                      <a:r>
                        <a:rPr sz="1800" b="0">
                          <a:solidFill>
                            <a:srgbClr val="171B20"/>
                          </a:solidFill>
                          <a:latin typeface="Arial"/>
                          <a:ea typeface="Arial"/>
                          <a:cs typeface="Arial"/>
                        </a:rPr>
                        <a:t>Store extraction and review state</a:t>
                      </a:r>
                    </a:p>
                  </a:txBody>
                  <a:tcPr marL="91440" marR="91440" marT="45720" marB="45720">
                    <a:solidFill>
                      <a:srgbClr val="FFF8EF"/>
                    </a:solidFill>
                  </a:tcPr>
                </a:tc>
              </a:tr>
            </a:tbl>
          </a:graphicData>
        </a:graphic>
      </p:graphicFrame>
      <p:sp>
        <p:nvSpPr>
          <p:cNvPr id="5" name="Docker Compose defines frontend, backend, and database servi">
            <a:extLst xmlns:a="http://schemas.openxmlformats.org/drawingml/2006/main">
              <a:ext uri="{FF2B5EF4-FFF2-40B4-BE49-F238E27FC236}">
                <a16:creationId xmlns:a16="http://schemas.microsoft.com/office/drawing/2014/main" id="{F383FDAA-1FBD-43B4-935E-258D54CDF1DD}"/>
              </a:ext>
            </a:extLst>
          </p:cNvPr>
          <p:cNvSpPr>
            <a:spLocks xmlns:a="http://schemas.openxmlformats.org/drawingml/2006/main" noGrp="1"/>
          </p:cNvSpPr>
          <p:nvPr/>
        </p:nvSpPr>
        <p:spPr>
          <a:xfrm xmlns:a="http://schemas.openxmlformats.org/drawingml/2006/main">
            <a:off x="609600" y="59721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C5E60"/>
                </a:solidFill>
                <a:latin typeface="Arial"/>
                <a:ea typeface="Arial"/>
                <a:cs typeface="Arial"/>
              </a:defRPr>
            </a:pPr>
            <a:r>
              <a:rPr sz="1575" b="0">
                <a:solidFill>
                  <a:srgbClr val="5C5E60"/>
                </a:solidFill>
                <a:latin typeface="Arial"/>
                <a:ea typeface="Arial"/>
                <a:cs typeface="Arial"/>
              </a:rPr>
              <a:t>Docker Compose defines frontend, backend, and database services.</a:t>
            </a:r>
          </a:p>
        </p:txBody>
      </p:sp>
    </p:spTree>
    <p:extLst>
      <p:ext uri="{BB962C8B-B14F-4D97-AF65-F5344CB8AC3E}">
        <p14:creationId xmlns:p14="http://schemas.microsoft.com/office/powerpoint/2010/main" val="1339327239"/>
      </p:ext>
    </p:extLst>
  </p:cSld>
</p:sld>
</file>

<file path=ppt/slides/slide6.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17" name="CLEARANCEX">
            <a:extLst xmlns:a="http://schemas.openxmlformats.org/drawingml/2006/main">
              <a:ext uri="{FF2B5EF4-FFF2-40B4-BE49-F238E27FC236}">
                <a16:creationId xmlns:a16="http://schemas.microsoft.com/office/drawing/2014/main" id="{4F10E1DF-4B5C-4576-9B40-15F80A015A8C}"/>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Four layers of explanation">
            <a:extLst xmlns:a="http://schemas.openxmlformats.org/drawingml/2006/main">
              <a:ext uri="{FF2B5EF4-FFF2-40B4-BE49-F238E27FC236}">
                <a16:creationId xmlns:a16="http://schemas.microsoft.com/office/drawing/2014/main" id="{3C308531-294B-4201-A380-3A86DB4F6FB6}"/>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Four layers of explanation</a:t>
            </a:r>
          </a:p>
        </p:txBody>
      </p:sp>
      <p:sp>
        <p:nvSpPr>
          <p:cNvPr id="3" name="06">
            <a:extLst xmlns:a="http://schemas.openxmlformats.org/drawingml/2006/main">
              <a:ext uri="{FF2B5EF4-FFF2-40B4-BE49-F238E27FC236}">
                <a16:creationId xmlns:a16="http://schemas.microsoft.com/office/drawing/2014/main" id="{F601640E-3F6F-44CF-A5C2-325DDB5EC6CD}"/>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06</a:t>
            </a:r>
          </a:p>
        </p:txBody>
      </p:sp>
      <p:sp>
        <p:nvSpPr>
          <p:cNvPr id="4" name="01">
            <a:extLst xmlns:a="http://schemas.openxmlformats.org/drawingml/2006/main">
              <a:ext uri="{FF2B5EF4-FFF2-40B4-BE49-F238E27FC236}">
                <a16:creationId xmlns:a16="http://schemas.microsoft.com/office/drawing/2014/main" id="{00E9C15F-0353-41A6-957D-7A5D73752B40}"/>
              </a:ext>
            </a:extLst>
          </p:cNvPr>
          <p:cNvSpPr>
            <a:spLocks xmlns:a="http://schemas.openxmlformats.org/drawingml/2006/main" noGrp="1"/>
          </p:cNvSpPr>
          <p:nvPr/>
        </p:nvSpPr>
        <p:spPr>
          <a:xfrm xmlns:a="http://schemas.openxmlformats.org/drawingml/2006/main">
            <a:off x="609600" y="20574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56B16"/>
                </a:solidFill>
                <a:latin typeface="Arial"/>
                <a:ea typeface="Arial"/>
                <a:cs typeface="Arial"/>
              </a:defRPr>
            </a:pPr>
            <a:r>
              <a:rPr sz="3150" b="1">
                <a:solidFill>
                  <a:srgbClr val="F56B16"/>
                </a:solidFill>
                <a:latin typeface="Arial"/>
                <a:ea typeface="Arial"/>
                <a:cs typeface="Arial"/>
              </a:rPr>
              <a:t>01</a:t>
            </a:r>
          </a:p>
        </p:txBody>
      </p:sp>
      <p:sp>
        <p:nvSpPr>
          <p:cNvPr id="5" name="Source evidence">
            <a:extLst xmlns:a="http://schemas.openxmlformats.org/drawingml/2006/main">
              <a:ext uri="{FF2B5EF4-FFF2-40B4-BE49-F238E27FC236}">
                <a16:creationId xmlns:a16="http://schemas.microsoft.com/office/drawing/2014/main" id="{AAD3AE2A-0E5A-4D27-ACB0-08160204F83E}"/>
              </a:ext>
            </a:extLst>
          </p:cNvPr>
          <p:cNvSpPr>
            <a:spLocks xmlns:a="http://schemas.openxmlformats.org/drawingml/2006/main" noGrp="1"/>
          </p:cNvSpPr>
          <p:nvPr/>
        </p:nvSpPr>
        <p:spPr>
          <a:xfrm xmlns:a="http://schemas.openxmlformats.org/drawingml/2006/main">
            <a:off x="1676400" y="205740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B20"/>
                </a:solidFill>
                <a:latin typeface="Arial"/>
                <a:ea typeface="Arial"/>
                <a:cs typeface="Arial"/>
              </a:defRPr>
            </a:pPr>
            <a:r>
              <a:rPr sz="2250" b="1">
                <a:solidFill>
                  <a:srgbClr val="171B20"/>
                </a:solidFill>
                <a:latin typeface="Arial"/>
                <a:ea typeface="Arial"/>
                <a:cs typeface="Arial"/>
              </a:rPr>
              <a:t>Source evidence</a:t>
            </a:r>
          </a:p>
        </p:txBody>
      </p:sp>
      <p:sp>
        <p:nvSpPr>
          <p:cNvPr id="6" name="Document, snippet, page, and bounding box">
            <a:extLst xmlns:a="http://schemas.openxmlformats.org/drawingml/2006/main">
              <a:ext uri="{FF2B5EF4-FFF2-40B4-BE49-F238E27FC236}">
                <a16:creationId xmlns:a16="http://schemas.microsoft.com/office/drawing/2014/main" id="{AB8012CE-60D3-4D69-A8FD-E39C6F637ADA}"/>
              </a:ext>
            </a:extLst>
          </p:cNvPr>
          <p:cNvSpPr>
            <a:spLocks xmlns:a="http://schemas.openxmlformats.org/drawingml/2006/main" noGrp="1"/>
          </p:cNvSpPr>
          <p:nvPr/>
        </p:nvSpPr>
        <p:spPr>
          <a:xfrm xmlns:a="http://schemas.openxmlformats.org/drawingml/2006/main">
            <a:off x="5476875" y="2085975"/>
            <a:ext cx="5972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B20"/>
                </a:solidFill>
                <a:latin typeface="Arial"/>
                <a:ea typeface="Arial"/>
                <a:cs typeface="Arial"/>
              </a:defRPr>
            </a:pPr>
            <a:r>
              <a:rPr sz="2025" b="0">
                <a:solidFill>
                  <a:srgbClr val="171B20"/>
                </a:solidFill>
                <a:latin typeface="Arial"/>
                <a:ea typeface="Arial"/>
                <a:cs typeface="Arial"/>
              </a:rPr>
              <a:t>Document, snippet, page, and bounding box</a:t>
            </a:r>
          </a:p>
        </p:txBody>
      </p:sp>
      <p:sp>
        <p:nvSpPr>
          <p:cNvPr id="7" name="02">
            <a:extLst xmlns:a="http://schemas.openxmlformats.org/drawingml/2006/main">
              <a:ext uri="{FF2B5EF4-FFF2-40B4-BE49-F238E27FC236}">
                <a16:creationId xmlns:a16="http://schemas.microsoft.com/office/drawing/2014/main" id="{A38131F1-657F-4229-A0E5-BF8241F83C9D}"/>
              </a:ext>
            </a:extLst>
          </p:cNvPr>
          <p:cNvSpPr>
            <a:spLocks xmlns:a="http://schemas.openxmlformats.org/drawingml/2006/main" noGrp="1"/>
          </p:cNvSpPr>
          <p:nvPr/>
        </p:nvSpPr>
        <p:spPr>
          <a:xfrm xmlns:a="http://schemas.openxmlformats.org/drawingml/2006/main">
            <a:off x="609600" y="299085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56B16"/>
                </a:solidFill>
                <a:latin typeface="Arial"/>
                <a:ea typeface="Arial"/>
                <a:cs typeface="Arial"/>
              </a:defRPr>
            </a:pPr>
            <a:r>
              <a:rPr sz="3150" b="1">
                <a:solidFill>
                  <a:srgbClr val="F56B16"/>
                </a:solidFill>
                <a:latin typeface="Arial"/>
                <a:ea typeface="Arial"/>
                <a:cs typeface="Arial"/>
              </a:rPr>
              <a:t>02</a:t>
            </a:r>
          </a:p>
        </p:txBody>
      </p:sp>
      <p:sp>
        <p:nvSpPr>
          <p:cNvPr id="8" name="Rule explanation">
            <a:extLst xmlns:a="http://schemas.openxmlformats.org/drawingml/2006/main">
              <a:ext uri="{FF2B5EF4-FFF2-40B4-BE49-F238E27FC236}">
                <a16:creationId xmlns:a16="http://schemas.microsoft.com/office/drawing/2014/main" id="{A075C27C-4727-4A05-A2C4-1B7A7CFED97C}"/>
              </a:ext>
            </a:extLst>
          </p:cNvPr>
          <p:cNvSpPr>
            <a:spLocks xmlns:a="http://schemas.openxmlformats.org/drawingml/2006/main" noGrp="1"/>
          </p:cNvSpPr>
          <p:nvPr/>
        </p:nvSpPr>
        <p:spPr>
          <a:xfrm xmlns:a="http://schemas.openxmlformats.org/drawingml/2006/main">
            <a:off x="1676400" y="29908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B20"/>
                </a:solidFill>
                <a:latin typeface="Arial"/>
                <a:ea typeface="Arial"/>
                <a:cs typeface="Arial"/>
              </a:defRPr>
            </a:pPr>
            <a:r>
              <a:rPr sz="2250" b="1">
                <a:solidFill>
                  <a:srgbClr val="171B20"/>
                </a:solidFill>
                <a:latin typeface="Arial"/>
                <a:ea typeface="Arial"/>
                <a:cs typeface="Arial"/>
              </a:rPr>
              <a:t>Rule explanation</a:t>
            </a:r>
          </a:p>
        </p:txBody>
      </p:sp>
      <p:sp>
        <p:nvSpPr>
          <p:cNvPr id="9" name="Compared values and the failed condition">
            <a:extLst xmlns:a="http://schemas.openxmlformats.org/drawingml/2006/main">
              <a:ext uri="{FF2B5EF4-FFF2-40B4-BE49-F238E27FC236}">
                <a16:creationId xmlns:a16="http://schemas.microsoft.com/office/drawing/2014/main" id="{CC6CD0DD-FA09-4C85-A13A-BE1B638E9FB1}"/>
              </a:ext>
            </a:extLst>
          </p:cNvPr>
          <p:cNvSpPr>
            <a:spLocks xmlns:a="http://schemas.openxmlformats.org/drawingml/2006/main" noGrp="1"/>
          </p:cNvSpPr>
          <p:nvPr/>
        </p:nvSpPr>
        <p:spPr>
          <a:xfrm xmlns:a="http://schemas.openxmlformats.org/drawingml/2006/main">
            <a:off x="5476875" y="3019425"/>
            <a:ext cx="5972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B20"/>
                </a:solidFill>
                <a:latin typeface="Arial"/>
                <a:ea typeface="Arial"/>
                <a:cs typeface="Arial"/>
              </a:defRPr>
            </a:pPr>
            <a:r>
              <a:rPr sz="2025" b="0">
                <a:solidFill>
                  <a:srgbClr val="171B20"/>
                </a:solidFill>
                <a:latin typeface="Arial"/>
                <a:ea typeface="Arial"/>
                <a:cs typeface="Arial"/>
              </a:rPr>
              <a:t>Compared values and the failed condition</a:t>
            </a:r>
          </a:p>
        </p:txBody>
      </p:sp>
      <p:sp>
        <p:nvSpPr>
          <p:cNvPr id="10" name="03">
            <a:extLst xmlns:a="http://schemas.openxmlformats.org/drawingml/2006/main">
              <a:ext uri="{FF2B5EF4-FFF2-40B4-BE49-F238E27FC236}">
                <a16:creationId xmlns:a16="http://schemas.microsoft.com/office/drawing/2014/main" id="{E8919C80-3841-424F-800D-C1D9A51C1C59}"/>
              </a:ext>
            </a:extLst>
          </p:cNvPr>
          <p:cNvSpPr>
            <a:spLocks xmlns:a="http://schemas.openxmlformats.org/drawingml/2006/main" noGrp="1"/>
          </p:cNvSpPr>
          <p:nvPr/>
        </p:nvSpPr>
        <p:spPr>
          <a:xfrm xmlns:a="http://schemas.openxmlformats.org/drawingml/2006/main">
            <a:off x="609600" y="392430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56B16"/>
                </a:solidFill>
                <a:latin typeface="Arial"/>
                <a:ea typeface="Arial"/>
                <a:cs typeface="Arial"/>
              </a:defRPr>
            </a:pPr>
            <a:r>
              <a:rPr sz="3150" b="1">
                <a:solidFill>
                  <a:srgbClr val="F56B16"/>
                </a:solidFill>
                <a:latin typeface="Arial"/>
                <a:ea typeface="Arial"/>
                <a:cs typeface="Arial"/>
              </a:rPr>
              <a:t>03</a:t>
            </a:r>
          </a:p>
        </p:txBody>
      </p:sp>
      <p:sp>
        <p:nvSpPr>
          <p:cNvPr id="11" name="Confidence">
            <a:extLst xmlns:a="http://schemas.openxmlformats.org/drawingml/2006/main">
              <a:ext uri="{FF2B5EF4-FFF2-40B4-BE49-F238E27FC236}">
                <a16:creationId xmlns:a16="http://schemas.microsoft.com/office/drawing/2014/main" id="{1BD45739-F096-4BFE-B6D2-3A4401F2D3E0}"/>
              </a:ext>
            </a:extLst>
          </p:cNvPr>
          <p:cNvSpPr>
            <a:spLocks xmlns:a="http://schemas.openxmlformats.org/drawingml/2006/main" noGrp="1"/>
          </p:cNvSpPr>
          <p:nvPr/>
        </p:nvSpPr>
        <p:spPr>
          <a:xfrm xmlns:a="http://schemas.openxmlformats.org/drawingml/2006/main">
            <a:off x="1676400" y="392430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B20"/>
                </a:solidFill>
                <a:latin typeface="Arial"/>
                <a:ea typeface="Arial"/>
                <a:cs typeface="Arial"/>
              </a:defRPr>
            </a:pPr>
            <a:r>
              <a:rPr sz="2250" b="1">
                <a:solidFill>
                  <a:srgbClr val="171B20"/>
                </a:solidFill>
                <a:latin typeface="Arial"/>
                <a:ea typeface="Arial"/>
                <a:cs typeface="Arial"/>
              </a:rPr>
              <a:t>Confidence</a:t>
            </a:r>
          </a:p>
        </p:txBody>
      </p:sp>
      <p:sp>
        <p:nvSpPr>
          <p:cNvPr id="12" name="Heuristic uncertainty indicators">
            <a:extLst xmlns:a="http://schemas.openxmlformats.org/drawingml/2006/main">
              <a:ext uri="{FF2B5EF4-FFF2-40B4-BE49-F238E27FC236}">
                <a16:creationId xmlns:a16="http://schemas.microsoft.com/office/drawing/2014/main" id="{686B8045-4AE9-4857-95F4-E4C491F74FFE}"/>
              </a:ext>
            </a:extLst>
          </p:cNvPr>
          <p:cNvSpPr>
            <a:spLocks xmlns:a="http://schemas.openxmlformats.org/drawingml/2006/main" noGrp="1"/>
          </p:cNvSpPr>
          <p:nvPr/>
        </p:nvSpPr>
        <p:spPr>
          <a:xfrm xmlns:a="http://schemas.openxmlformats.org/drawingml/2006/main">
            <a:off x="5476875" y="3952875"/>
            <a:ext cx="5972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B20"/>
                </a:solidFill>
                <a:latin typeface="Arial"/>
                <a:ea typeface="Arial"/>
                <a:cs typeface="Arial"/>
              </a:defRPr>
            </a:pPr>
            <a:r>
              <a:rPr sz="2025" b="0">
                <a:solidFill>
                  <a:srgbClr val="171B20"/>
                </a:solidFill>
                <a:latin typeface="Arial"/>
                <a:ea typeface="Arial"/>
                <a:cs typeface="Arial"/>
              </a:rPr>
              <a:t>Heuristic uncertainty indicators</a:t>
            </a:r>
          </a:p>
        </p:txBody>
      </p:sp>
      <p:sp>
        <p:nvSpPr>
          <p:cNvPr id="13" name="04">
            <a:extLst xmlns:a="http://schemas.openxmlformats.org/drawingml/2006/main">
              <a:ext uri="{FF2B5EF4-FFF2-40B4-BE49-F238E27FC236}">
                <a16:creationId xmlns:a16="http://schemas.microsoft.com/office/drawing/2014/main" id="{86943673-2C1C-4CEE-889E-DC578968C64E}"/>
              </a:ext>
            </a:extLst>
          </p:cNvPr>
          <p:cNvSpPr>
            <a:spLocks xmlns:a="http://schemas.openxmlformats.org/drawingml/2006/main" noGrp="1"/>
          </p:cNvSpPr>
          <p:nvPr/>
        </p:nvSpPr>
        <p:spPr>
          <a:xfrm xmlns:a="http://schemas.openxmlformats.org/drawingml/2006/main">
            <a:off x="609600" y="4857750"/>
            <a:ext cx="809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56B16"/>
                </a:solidFill>
                <a:latin typeface="Arial"/>
                <a:ea typeface="Arial"/>
                <a:cs typeface="Arial"/>
              </a:defRPr>
            </a:pPr>
            <a:r>
              <a:rPr sz="3150" b="1">
                <a:solidFill>
                  <a:srgbClr val="F56B16"/>
                </a:solidFill>
                <a:latin typeface="Arial"/>
                <a:ea typeface="Arial"/>
                <a:cs typeface="Arial"/>
              </a:rPr>
              <a:t>04</a:t>
            </a:r>
          </a:p>
        </p:txBody>
      </p:sp>
      <p:sp>
        <p:nvSpPr>
          <p:cNvPr id="14" name="Counterfactual">
            <a:extLst xmlns:a="http://schemas.openxmlformats.org/drawingml/2006/main">
              <a:ext uri="{FF2B5EF4-FFF2-40B4-BE49-F238E27FC236}">
                <a16:creationId xmlns:a16="http://schemas.microsoft.com/office/drawing/2014/main" id="{BAF66C1F-D296-439C-ACE4-65C446572D49}"/>
              </a:ext>
            </a:extLst>
          </p:cNvPr>
          <p:cNvSpPr>
            <a:spLocks xmlns:a="http://schemas.openxmlformats.org/drawingml/2006/main" noGrp="1"/>
          </p:cNvSpPr>
          <p:nvPr/>
        </p:nvSpPr>
        <p:spPr>
          <a:xfrm xmlns:a="http://schemas.openxmlformats.org/drawingml/2006/main">
            <a:off x="1676400" y="48577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1B20"/>
                </a:solidFill>
                <a:latin typeface="Arial"/>
                <a:ea typeface="Arial"/>
                <a:cs typeface="Arial"/>
              </a:defRPr>
            </a:pPr>
            <a:r>
              <a:rPr sz="2250" b="1">
                <a:solidFill>
                  <a:srgbClr val="171B20"/>
                </a:solidFill>
                <a:latin typeface="Arial"/>
                <a:ea typeface="Arial"/>
                <a:cs typeface="Arial"/>
              </a:rPr>
              <a:t>Counterfactual</a:t>
            </a:r>
          </a:p>
        </p:txBody>
      </p:sp>
      <p:sp>
        <p:nvSpPr>
          <p:cNvPr id="15" name="What value change would remove the mismatch?">
            <a:extLst xmlns:a="http://schemas.openxmlformats.org/drawingml/2006/main">
              <a:ext uri="{FF2B5EF4-FFF2-40B4-BE49-F238E27FC236}">
                <a16:creationId xmlns:a16="http://schemas.microsoft.com/office/drawing/2014/main" id="{2118ED80-E2A8-4806-8C3A-E51E9B0701E6}"/>
              </a:ext>
            </a:extLst>
          </p:cNvPr>
          <p:cNvSpPr>
            <a:spLocks xmlns:a="http://schemas.openxmlformats.org/drawingml/2006/main" noGrp="1"/>
          </p:cNvSpPr>
          <p:nvPr/>
        </p:nvSpPr>
        <p:spPr>
          <a:xfrm xmlns:a="http://schemas.openxmlformats.org/drawingml/2006/main">
            <a:off x="5476875" y="4886325"/>
            <a:ext cx="5972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B20"/>
                </a:solidFill>
                <a:latin typeface="Arial"/>
                <a:ea typeface="Arial"/>
                <a:cs typeface="Arial"/>
              </a:defRPr>
            </a:pPr>
            <a:r>
              <a:rPr sz="2025" b="0">
                <a:solidFill>
                  <a:srgbClr val="171B20"/>
                </a:solidFill>
                <a:latin typeface="Arial"/>
                <a:ea typeface="Arial"/>
                <a:cs typeface="Arial"/>
              </a:rPr>
              <a:t>What value change would remove the mismatch?</a:t>
            </a:r>
          </a:p>
        </p:txBody>
      </p:sp>
      <p:sp>
        <p:nvSpPr>
          <p:cNvPr id="16" name="A proposed change still requires factual verification.">
            <a:extLst xmlns:a="http://schemas.openxmlformats.org/drawingml/2006/main">
              <a:ext uri="{FF2B5EF4-FFF2-40B4-BE49-F238E27FC236}">
                <a16:creationId xmlns:a16="http://schemas.microsoft.com/office/drawing/2014/main" id="{F479DD82-6005-460B-9A52-94094615085A}"/>
              </a:ext>
            </a:extLst>
          </p:cNvPr>
          <p:cNvSpPr>
            <a:spLocks xmlns:a="http://schemas.openxmlformats.org/drawingml/2006/main" noGrp="1"/>
          </p:cNvSpPr>
          <p:nvPr/>
        </p:nvSpPr>
        <p:spPr>
          <a:xfrm xmlns:a="http://schemas.openxmlformats.org/drawingml/2006/main">
            <a:off x="609600" y="5934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5E60"/>
                </a:solidFill>
                <a:latin typeface="Arial"/>
                <a:ea typeface="Arial"/>
                <a:cs typeface="Arial"/>
              </a:defRPr>
            </a:pPr>
            <a:r>
              <a:rPr sz="1725" b="0">
                <a:solidFill>
                  <a:srgbClr val="5C5E60"/>
                </a:solidFill>
                <a:latin typeface="Arial"/>
                <a:ea typeface="Arial"/>
                <a:cs typeface="Arial"/>
              </a:rPr>
              <a:t>A proposed change still requires factual verification.</a:t>
            </a:r>
          </a:p>
        </p:txBody>
      </p:sp>
    </p:spTree>
    <p:extLst>
      <p:ext uri="{BB962C8B-B14F-4D97-AF65-F5344CB8AC3E}">
        <p14:creationId xmlns:p14="http://schemas.microsoft.com/office/powerpoint/2010/main" val="2006631699"/>
      </p:ext>
    </p:extLst>
  </p:cSld>
</p:sld>
</file>

<file path=ppt/slides/slide7.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7" name="CLEARANCEX">
            <a:extLst xmlns:a="http://schemas.openxmlformats.org/drawingml/2006/main">
              <a:ext uri="{FF2B5EF4-FFF2-40B4-BE49-F238E27FC236}">
                <a16:creationId xmlns:a16="http://schemas.microsoft.com/office/drawing/2014/main" id="{56CF60E2-928F-4701-BCC4-2C239389E2FE}"/>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CLEARANCEX</a:t>
            </a:r>
          </a:p>
        </p:txBody>
      </p:sp>
      <p:sp>
        <p:nvSpPr>
          <p:cNvPr id="2" name="Live review demonstration">
            <a:extLst xmlns:a="http://schemas.openxmlformats.org/drawingml/2006/main">
              <a:ext uri="{FF2B5EF4-FFF2-40B4-BE49-F238E27FC236}">
                <a16:creationId xmlns:a16="http://schemas.microsoft.com/office/drawing/2014/main" id="{C9E80599-923E-4AAB-97FB-4E8AD0AA661A}"/>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Live review demonstration</a:t>
            </a:r>
          </a:p>
        </p:txBody>
      </p:sp>
      <p:sp>
        <p:nvSpPr>
          <p:cNvPr id="3" name="07">
            <a:extLst xmlns:a="http://schemas.openxmlformats.org/drawingml/2006/main">
              <a:ext uri="{FF2B5EF4-FFF2-40B4-BE49-F238E27FC236}">
                <a16:creationId xmlns:a16="http://schemas.microsoft.com/office/drawing/2014/main" id="{B5698143-242D-4EF7-A844-C5267C3F88B0}"/>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07</a:t>
            </a:r>
          </a:p>
        </p:txBody>
      </p:sp>
      <p:sp>
        <p:nvSpPr>
          <p:cNvPr id="4" name="Which value can the&#10;reviewer defend?">
            <a:extLst xmlns:a="http://schemas.openxmlformats.org/drawingml/2006/main">
              <a:ext uri="{FF2B5EF4-FFF2-40B4-BE49-F238E27FC236}">
                <a16:creationId xmlns:a16="http://schemas.microsoft.com/office/drawing/2014/main" id="{E75F6543-18A6-4E6E-A657-7039CD2BA63D}"/>
              </a:ext>
            </a:extLst>
          </p:cNvPr>
          <p:cNvSpPr>
            <a:spLocks xmlns:a="http://schemas.openxmlformats.org/drawingml/2006/main" noGrp="1"/>
          </p:cNvSpPr>
          <p:nvPr/>
        </p:nvSpPr>
        <p:spPr>
          <a:xfrm xmlns:a="http://schemas.openxmlformats.org/drawingml/2006/main">
            <a:off x="609600" y="2124075"/>
            <a:ext cx="10191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8EF"/>
                </a:solidFill>
                <a:latin typeface="Arial"/>
                <a:ea typeface="Arial"/>
                <a:cs typeface="Arial"/>
              </a:defRPr>
            </a:pPr>
            <a:r>
              <a:rPr sz="4200" b="1">
                <a:solidFill>
                  <a:srgbClr val="FFF8EF"/>
                </a:solidFill>
                <a:latin typeface="Arial"/>
                <a:ea typeface="Arial"/>
                <a:cs typeface="Arial"/>
              </a:rPr>
              <a:t>Which value can the</a:t>
            </a:r>
          </a:p>
          <a:p xmlns:a="http://schemas.openxmlformats.org/drawingml/2006/main">
            <a:pPr>
              <a:defRPr sz="4200" b="1">
                <a:solidFill>
                  <a:srgbClr val="FFF8EF"/>
                </a:solidFill>
                <a:latin typeface="Arial"/>
                <a:ea typeface="Arial"/>
                <a:cs typeface="Arial"/>
              </a:defRPr>
            </a:pPr>
            <a:r>
              <a:rPr sz="4200" b="1">
                <a:solidFill>
                  <a:srgbClr val="FFF8EF"/>
                </a:solidFill>
                <a:latin typeface="Arial"/>
                <a:ea typeface="Arial"/>
                <a:cs typeface="Arial"/>
              </a:rPr>
              <a:t>reviewer defend?</a:t>
            </a:r>
          </a:p>
        </p:txBody>
      </p:sp>
      <p:sp>
        <p:nvSpPr>
          <p:cNvPr id="5" name="Open the source assertions&#10;Inspect the discrepancy explanati">
            <a:extLst xmlns:a="http://schemas.openxmlformats.org/drawingml/2006/main">
              <a:ext uri="{FF2B5EF4-FFF2-40B4-BE49-F238E27FC236}">
                <a16:creationId xmlns:a16="http://schemas.microsoft.com/office/drawing/2014/main" id="{9A212307-8582-4602-A13C-2BE922EEE2E8}"/>
              </a:ext>
            </a:extLst>
          </p:cNvPr>
          <p:cNvSpPr>
            <a:spLocks xmlns:a="http://schemas.openxmlformats.org/drawingml/2006/main" noGrp="1"/>
          </p:cNvSpPr>
          <p:nvPr/>
        </p:nvSpPr>
        <p:spPr>
          <a:xfrm xmlns:a="http://schemas.openxmlformats.org/drawingml/2006/main">
            <a:off x="666750" y="3752850"/>
            <a:ext cx="1038225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Open the source assertions</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Inspect the discrepancy explanation</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Record a verified test decision</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Show the remaining export blockers</a:t>
            </a:r>
          </a:p>
        </p:txBody>
      </p:sp>
      <p:sp>
        <p:nvSpPr>
          <p:cNvPr id="6" name="Prepared test dossier or explicitly labeled fixture">
            <a:extLst xmlns:a="http://schemas.openxmlformats.org/drawingml/2006/main">
              <a:ext uri="{FF2B5EF4-FFF2-40B4-BE49-F238E27FC236}">
                <a16:creationId xmlns:a16="http://schemas.microsoft.com/office/drawing/2014/main" id="{7357D77B-CE91-4970-AB59-D23BAA2A655A}"/>
              </a:ext>
            </a:extLst>
          </p:cNvPr>
          <p:cNvSpPr>
            <a:spLocks xmlns:a="http://schemas.openxmlformats.org/drawingml/2006/main" noGrp="1"/>
          </p:cNvSpPr>
          <p:nvPr/>
        </p:nvSpPr>
        <p:spPr>
          <a:xfrm xmlns:a="http://schemas.openxmlformats.org/drawingml/2006/main">
            <a:off x="609600" y="61150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56B16"/>
                </a:solidFill>
                <a:latin typeface="Arial"/>
                <a:ea typeface="Arial"/>
                <a:cs typeface="Arial"/>
              </a:defRPr>
            </a:pPr>
            <a:r>
              <a:rPr sz="1500" b="0">
                <a:solidFill>
                  <a:srgbClr val="F56B16"/>
                </a:solidFill>
                <a:latin typeface="Arial"/>
                <a:ea typeface="Arial"/>
                <a:cs typeface="Arial"/>
              </a:rPr>
              <a:t>Prepared test dossier or explicitly labeled fixture</a:t>
            </a:r>
          </a:p>
        </p:txBody>
      </p:sp>
    </p:spTree>
    <p:extLst>
      <p:ext uri="{BB962C8B-B14F-4D97-AF65-F5344CB8AC3E}">
        <p14:creationId xmlns:p14="http://schemas.microsoft.com/office/powerpoint/2010/main" val="1560552393"/>
      </p:ext>
    </p:extLst>
  </p:cSld>
</p:sld>
</file>

<file path=ppt/slides/slide8.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7" name="CLEARANCEX">
            <a:extLst xmlns:a="http://schemas.openxmlformats.org/drawingml/2006/main">
              <a:ext uri="{FF2B5EF4-FFF2-40B4-BE49-F238E27FC236}">
                <a16:creationId xmlns:a16="http://schemas.microsoft.com/office/drawing/2014/main" id="{27AF17CC-EAEC-4F83-B0E4-BD621418BEAF}"/>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Export readiness">
            <a:extLst xmlns:a="http://schemas.openxmlformats.org/drawingml/2006/main">
              <a:ext uri="{FF2B5EF4-FFF2-40B4-BE49-F238E27FC236}">
                <a16:creationId xmlns:a16="http://schemas.microsoft.com/office/drawing/2014/main" id="{67F14B48-3631-4C28-9B18-83B7DB38AAC8}"/>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Export readiness</a:t>
            </a:r>
          </a:p>
        </p:txBody>
      </p:sp>
      <p:sp>
        <p:nvSpPr>
          <p:cNvPr id="3" name="08">
            <a:extLst xmlns:a="http://schemas.openxmlformats.org/drawingml/2006/main">
              <a:ext uri="{FF2B5EF4-FFF2-40B4-BE49-F238E27FC236}">
                <a16:creationId xmlns:a16="http://schemas.microsoft.com/office/drawing/2014/main" id="{84C6830D-9E57-4A1F-811C-744EFD040309}"/>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08</a:t>
            </a:r>
          </a:p>
        </p:txBody>
      </p:sp>
      <p:graphicFrame>
        <p:nvGraphicFramePr>
          <p:cNvPr id="10" name=""/>
          <p:cNvGraphicFramePr/>
          <p:nvPr/>
        </p:nvGraphicFramePr>
        <p:xfrm>
          <a:off xmlns:a="http://schemas.openxmlformats.org/drawingml/2006/main" x="609600" y="2095500"/>
          <a:ext xmlns:a="http://schemas.openxmlformats.org/drawingml/2006/main" cx="10972800" cy="2952750"/>
        </p:xfrm>
        <a:graphic xmlns:a="http://schemas.openxmlformats.org/drawingml/2006/main">
          <a:graphicData uri="http://schemas.openxmlformats.org/drawingml/2006/table">
            <a:tbl>
              <a:tblPr/>
              <a:tblGrid>
                <a:gridCol w="3524250"/>
                <a:gridCol w="7448550"/>
              </a:tblGrid>
              <a:tr h="590550">
                <a:tc>
                  <a:txBody>
                    <a:bodyPr>
                      <a:noAutofit/>
                    </a:bodyPr>
                    <a:lstStyle/>
                    <a:p>
                      <a:r>
                        <a:rPr sz="1950" b="1">
                          <a:solidFill>
                            <a:srgbClr val="F56B16"/>
                          </a:solidFill>
                          <a:latin typeface="Arial"/>
                          <a:ea typeface="Arial"/>
                          <a:cs typeface="Arial"/>
                        </a:rPr>
                        <a:t>Check</a:t>
                      </a:r>
                    </a:p>
                  </a:txBody>
                  <a:tcPr marL="91440" marR="91440" marT="45720" marB="45720">
                    <a:solidFill>
                      <a:srgbClr val="F0DDC7"/>
                    </a:solidFill>
                  </a:tcPr>
                </a:tc>
                <a:tc>
                  <a:txBody>
                    <a:bodyPr>
                      <a:noAutofit/>
                    </a:bodyPr>
                    <a:lstStyle/>
                    <a:p>
                      <a:r>
                        <a:rPr sz="1950" b="1">
                          <a:solidFill>
                            <a:srgbClr val="F56B16"/>
                          </a:solidFill>
                          <a:latin typeface="Arial"/>
                          <a:ea typeface="Arial"/>
                          <a:cs typeface="Arial"/>
                        </a:rPr>
                        <a:t>Blocked when…</a:t>
                      </a:r>
                    </a:p>
                  </a:txBody>
                  <a:tcPr marL="91440" marR="91440" marT="45720" marB="45720">
                    <a:solidFill>
                      <a:srgbClr val="F0DDC7"/>
                    </a:solidFill>
                  </a:tcPr>
                </a:tc>
              </a:tr>
              <a:tr h="590550">
                <a:tc>
                  <a:txBody>
                    <a:bodyPr>
                      <a:noAutofit/>
                    </a:bodyPr>
                    <a:lstStyle/>
                    <a:p>
                      <a:r>
                        <a:rPr sz="1950" b="0">
                          <a:solidFill>
                            <a:srgbClr val="171B20"/>
                          </a:solidFill>
                          <a:latin typeface="Arial"/>
                          <a:ea typeface="Arial"/>
                          <a:cs typeface="Arial"/>
                        </a:rPr>
                        <a:t>Document evidence</a:t>
                      </a:r>
                    </a:p>
                  </a:txBody>
                  <a:tcPr marL="91440" marR="91440" marT="45720" marB="45720">
                    <a:solidFill>
                      <a:srgbClr val="FFF8EF"/>
                    </a:solidFill>
                  </a:tcPr>
                </a:tc>
                <a:tc>
                  <a:txBody>
                    <a:bodyPr>
                      <a:noAutofit/>
                    </a:bodyPr>
                    <a:lstStyle/>
                    <a:p>
                      <a:r>
                        <a:rPr sz="1950" b="0">
                          <a:solidFill>
                            <a:srgbClr val="171B20"/>
                          </a:solidFill>
                          <a:latin typeface="Arial"/>
                          <a:ea typeface="Arial"/>
                          <a:cs typeface="Arial"/>
                        </a:rPr>
                        <a:t>A required field is missing or unresolved</a:t>
                      </a:r>
                    </a:p>
                  </a:txBody>
                  <a:tcPr marL="91440" marR="91440" marT="45720" marB="45720">
                    <a:solidFill>
                      <a:srgbClr val="FFF8EF"/>
                    </a:solidFill>
                  </a:tcPr>
                </a:tc>
              </a:tr>
              <a:tr h="590550">
                <a:tc>
                  <a:txBody>
                    <a:bodyPr>
                      <a:noAutofit/>
                    </a:bodyPr>
                    <a:lstStyle/>
                    <a:p>
                      <a:r>
                        <a:rPr sz="1950" b="0">
                          <a:solidFill>
                            <a:srgbClr val="171B20"/>
                          </a:solidFill>
                          <a:latin typeface="Arial"/>
                          <a:ea typeface="Arial"/>
                          <a:cs typeface="Arial"/>
                        </a:rPr>
                        <a:t>Declaration metadata</a:t>
                      </a:r>
                    </a:p>
                  </a:txBody>
                  <a:tcPr marL="91440" marR="91440" marT="45720" marB="45720">
                    <a:solidFill>
                      <a:srgbClr val="FFF8EF"/>
                    </a:solidFill>
                  </a:tcPr>
                </a:tc>
                <a:tc>
                  <a:txBody>
                    <a:bodyPr>
                      <a:noAutofit/>
                    </a:bodyPr>
                    <a:lstStyle/>
                    <a:p>
                      <a:r>
                        <a:rPr sz="1950" b="0">
                          <a:solidFill>
                            <a:srgbClr val="171B20"/>
                          </a:solidFill>
                          <a:latin typeface="Arial"/>
                          <a:ea typeface="Arial"/>
                          <a:cs typeface="Arial"/>
                        </a:rPr>
                        <a:t>Required declarant/profile details are absent</a:t>
                      </a:r>
                    </a:p>
                  </a:txBody>
                  <a:tcPr marL="91440" marR="91440" marT="45720" marB="45720">
                    <a:solidFill>
                      <a:srgbClr val="FFF8EF"/>
                    </a:solidFill>
                  </a:tcPr>
                </a:tc>
              </a:tr>
              <a:tr h="590550">
                <a:tc>
                  <a:txBody>
                    <a:bodyPr>
                      <a:noAutofit/>
                    </a:bodyPr>
                    <a:lstStyle/>
                    <a:p>
                      <a:r>
                        <a:rPr sz="1950" b="0">
                          <a:solidFill>
                            <a:srgbClr val="171B20"/>
                          </a:solidFill>
                          <a:latin typeface="Arial"/>
                          <a:ea typeface="Arial"/>
                          <a:cs typeface="Arial"/>
                        </a:rPr>
                        <a:t>Goods rows</a:t>
                      </a:r>
                    </a:p>
                  </a:txBody>
                  <a:tcPr marL="91440" marR="91440" marT="45720" marB="45720">
                    <a:solidFill>
                      <a:srgbClr val="FFF8EF"/>
                    </a:solidFill>
                  </a:tcPr>
                </a:tc>
                <a:tc>
                  <a:txBody>
                    <a:bodyPr>
                      <a:noAutofit/>
                    </a:bodyPr>
                    <a:lstStyle/>
                    <a:p>
                      <a:r>
                        <a:rPr sz="1950" b="0">
                          <a:solidFill>
                            <a:srgbClr val="171B20"/>
                          </a:solidFill>
                          <a:latin typeface="Arial"/>
                          <a:ea typeface="Arial"/>
                          <a:cs typeface="Arial"/>
                        </a:rPr>
                        <a:t>No usable goods row is available</a:t>
                      </a:r>
                    </a:p>
                  </a:txBody>
                  <a:tcPr marL="91440" marR="91440" marT="45720" marB="45720">
                    <a:solidFill>
                      <a:srgbClr val="FFF8EF"/>
                    </a:solidFill>
                  </a:tcPr>
                </a:tc>
              </a:tr>
              <a:tr h="590550">
                <a:tc>
                  <a:txBody>
                    <a:bodyPr>
                      <a:noAutofit/>
                    </a:bodyPr>
                    <a:lstStyle/>
                    <a:p>
                      <a:r>
                        <a:rPr sz="1950" b="0">
                          <a:solidFill>
                            <a:srgbClr val="171B20"/>
                          </a:solidFill>
                          <a:latin typeface="Arial"/>
                          <a:ea typeface="Arial"/>
                          <a:cs typeface="Arial"/>
                        </a:rPr>
                        <a:t>Backend enforcement</a:t>
                      </a:r>
                    </a:p>
                  </a:txBody>
                  <a:tcPr marL="91440" marR="91440" marT="45720" marB="45720">
                    <a:solidFill>
                      <a:srgbClr val="FFF8EF"/>
                    </a:solidFill>
                  </a:tcPr>
                </a:tc>
                <a:tc>
                  <a:txBody>
                    <a:bodyPr>
                      <a:noAutofit/>
                    </a:bodyPr>
                    <a:lstStyle/>
                    <a:p>
                      <a:r>
                        <a:rPr sz="1950" b="0">
                          <a:solidFill>
                            <a:srgbClr val="171B20"/>
                          </a:solidFill>
                          <a:latin typeface="Arial"/>
                          <a:ea typeface="Arial"/>
                          <a:cs typeface="Arial"/>
                        </a:rPr>
                        <a:t>The readiness gate fails</a:t>
                      </a:r>
                    </a:p>
                  </a:txBody>
                  <a:tcPr marL="91440" marR="91440" marT="45720" marB="45720">
                    <a:solidFill>
                      <a:srgbClr val="FFF8EF"/>
                    </a:solidFill>
                  </a:tcPr>
                </a:tc>
              </a:tr>
            </a:tbl>
          </a:graphicData>
        </a:graphic>
      </p:graphicFrame>
      <p:sp>
        <p:nvSpPr>
          <p:cNvPr id="5" name="Compatibility-template XML">
            <a:extLst xmlns:a="http://schemas.openxmlformats.org/drawingml/2006/main">
              <a:ext uri="{FF2B5EF4-FFF2-40B4-BE49-F238E27FC236}">
                <a16:creationId xmlns:a16="http://schemas.microsoft.com/office/drawing/2014/main" id="{1D963C90-4FD7-4201-8D2F-FC2976DFA8C6}"/>
              </a:ext>
            </a:extLst>
          </p:cNvPr>
          <p:cNvSpPr>
            <a:spLocks xmlns:a="http://schemas.openxmlformats.org/drawingml/2006/main" noGrp="1"/>
          </p:cNvSpPr>
          <p:nvPr/>
        </p:nvSpPr>
        <p:spPr>
          <a:xfrm xmlns:a="http://schemas.openxmlformats.org/drawingml/2006/main">
            <a:off x="619125" y="5400675"/>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56B16"/>
                </a:solidFill>
                <a:latin typeface="Arial"/>
                <a:ea typeface="Arial"/>
                <a:cs typeface="Arial"/>
              </a:defRPr>
            </a:pPr>
            <a:r>
              <a:rPr sz="2475" b="1">
                <a:solidFill>
                  <a:srgbClr val="F56B16"/>
                </a:solidFill>
                <a:latin typeface="Arial"/>
                <a:ea typeface="Arial"/>
                <a:cs typeface="Arial"/>
              </a:rPr>
              <a:t>Compatibility-template XML</a:t>
            </a:r>
          </a:p>
        </p:txBody>
      </p:sp>
      <p:sp>
        <p:nvSpPr>
          <p:cNvPr id="6" name="Official schema conformance and import acceptance remain unv">
            <a:extLst xmlns:a="http://schemas.openxmlformats.org/drawingml/2006/main">
              <a:ext uri="{FF2B5EF4-FFF2-40B4-BE49-F238E27FC236}">
                <a16:creationId xmlns:a16="http://schemas.microsoft.com/office/drawing/2014/main" id="{CB5BEC4E-5AEB-4B61-83F3-588BD5C6E524}"/>
              </a:ext>
            </a:extLst>
          </p:cNvPr>
          <p:cNvSpPr>
            <a:spLocks xmlns:a="http://schemas.openxmlformats.org/drawingml/2006/main" noGrp="1"/>
          </p:cNvSpPr>
          <p:nvPr/>
        </p:nvSpPr>
        <p:spPr>
          <a:xfrm xmlns:a="http://schemas.openxmlformats.org/drawingml/2006/main">
            <a:off x="619125" y="59245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5E60"/>
                </a:solidFill>
                <a:latin typeface="Arial"/>
                <a:ea typeface="Arial"/>
                <a:cs typeface="Arial"/>
              </a:defRPr>
            </a:pPr>
            <a:r>
              <a:rPr sz="1725" b="0">
                <a:solidFill>
                  <a:srgbClr val="5C5E60"/>
                </a:solidFill>
                <a:latin typeface="Arial"/>
                <a:ea typeface="Arial"/>
                <a:cs typeface="Arial"/>
              </a:rPr>
              <a:t>Official schema conformance and import acceptance remain unverified.</a:t>
            </a:r>
          </a:p>
        </p:txBody>
      </p:sp>
    </p:spTree>
    <p:extLst>
      <p:ext uri="{BB962C8B-B14F-4D97-AF65-F5344CB8AC3E}">
        <p14:creationId xmlns:p14="http://schemas.microsoft.com/office/powerpoint/2010/main" val="1570640621"/>
      </p:ext>
    </p:extLst>
  </p:cSld>
</p:sld>
</file>

<file path=ppt/slides/slide9.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10" name="CLEARANCEX">
            <a:extLst xmlns:a="http://schemas.openxmlformats.org/drawingml/2006/main">
              <a:ext uri="{FF2B5EF4-FFF2-40B4-BE49-F238E27FC236}">
                <a16:creationId xmlns:a16="http://schemas.microsoft.com/office/drawing/2014/main" id="{4871646E-C3B2-4F5C-907A-C5E4A4504F96}"/>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Engineering evidence">
            <a:extLst xmlns:a="http://schemas.openxmlformats.org/drawingml/2006/main">
              <a:ext uri="{FF2B5EF4-FFF2-40B4-BE49-F238E27FC236}">
                <a16:creationId xmlns:a16="http://schemas.microsoft.com/office/drawing/2014/main" id="{97188C94-D882-4900-BDE0-6A796B5F2E84}"/>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Engineering evidence</a:t>
            </a:r>
          </a:p>
        </p:txBody>
      </p:sp>
      <p:sp>
        <p:nvSpPr>
          <p:cNvPr id="3" name="09">
            <a:extLst xmlns:a="http://schemas.openxmlformats.org/drawingml/2006/main">
              <a:ext uri="{FF2B5EF4-FFF2-40B4-BE49-F238E27FC236}">
                <a16:creationId xmlns:a16="http://schemas.microsoft.com/office/drawing/2014/main" id="{E169CB3E-C027-4706-90C3-B0BF44C12AC9}"/>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09</a:t>
            </a:r>
          </a:p>
        </p:txBody>
      </p:sp>
      <p:sp>
        <p:nvSpPr>
          <p:cNvPr id="4" name="Build passed">
            <a:extLst xmlns:a="http://schemas.openxmlformats.org/drawingml/2006/main">
              <a:ext uri="{FF2B5EF4-FFF2-40B4-BE49-F238E27FC236}">
                <a16:creationId xmlns:a16="http://schemas.microsoft.com/office/drawing/2014/main" id="{99D521CE-C4ED-4941-ABCD-AC34B96F51AC}"/>
              </a:ext>
            </a:extLst>
          </p:cNvPr>
          <p:cNvSpPr>
            <a:spLocks xmlns:a="http://schemas.openxmlformats.org/drawingml/2006/main" noGrp="1"/>
          </p:cNvSpPr>
          <p:nvPr/>
        </p:nvSpPr>
        <p:spPr>
          <a:xfrm xmlns:a="http://schemas.openxmlformats.org/drawingml/2006/main">
            <a:off x="619125" y="2200275"/>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Build passed</a:t>
            </a:r>
          </a:p>
        </p:txBody>
      </p:sp>
      <p:sp>
        <p:nvSpPr>
          <p:cNvPr id="5" name="Frontend TypeScript and Vite">
            <a:extLst xmlns:a="http://schemas.openxmlformats.org/drawingml/2006/main">
              <a:ext uri="{FF2B5EF4-FFF2-40B4-BE49-F238E27FC236}">
                <a16:creationId xmlns:a16="http://schemas.microsoft.com/office/drawing/2014/main" id="{BA431338-10E6-4A4E-95A7-C2848CB3CB62}"/>
              </a:ext>
            </a:extLst>
          </p:cNvPr>
          <p:cNvSpPr>
            <a:spLocks xmlns:a="http://schemas.openxmlformats.org/drawingml/2006/main" noGrp="1"/>
          </p:cNvSpPr>
          <p:nvPr/>
        </p:nvSpPr>
        <p:spPr>
          <a:xfrm xmlns:a="http://schemas.openxmlformats.org/drawingml/2006/main">
            <a:off x="619125" y="305752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1B20"/>
                </a:solidFill>
                <a:latin typeface="Arial"/>
                <a:ea typeface="Arial"/>
                <a:cs typeface="Arial"/>
              </a:defRPr>
            </a:pPr>
            <a:r>
              <a:rPr sz="2025" b="0">
                <a:solidFill>
                  <a:srgbClr val="171B20"/>
                </a:solidFill>
                <a:latin typeface="Arial"/>
                <a:ea typeface="Arial"/>
                <a:cs typeface="Arial"/>
              </a:rPr>
              <a:t>Frontend TypeScript and Vite</a:t>
            </a:r>
          </a:p>
        </p:txBody>
      </p:sp>
      <p:sp>
        <p:nvSpPr>
          <p:cNvPr id="6" name="15 / 16">
            <a:extLst xmlns:a="http://schemas.openxmlformats.org/drawingml/2006/main">
              <a:ext uri="{FF2B5EF4-FFF2-40B4-BE49-F238E27FC236}">
                <a16:creationId xmlns:a16="http://schemas.microsoft.com/office/drawing/2014/main" id="{EFFFE8E5-B97A-4CA9-8FE8-5C0C0F79A8EB}"/>
              </a:ext>
            </a:extLst>
          </p:cNvPr>
          <p:cNvSpPr>
            <a:spLocks xmlns:a="http://schemas.openxmlformats.org/drawingml/2006/main" noGrp="1"/>
          </p:cNvSpPr>
          <p:nvPr/>
        </p:nvSpPr>
        <p:spPr>
          <a:xfrm xmlns:a="http://schemas.openxmlformats.org/drawingml/2006/main">
            <a:off x="7820025" y="2162175"/>
            <a:ext cx="3429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56B16"/>
                </a:solidFill>
                <a:latin typeface="Arial"/>
                <a:ea typeface="Arial"/>
                <a:cs typeface="Arial"/>
              </a:defRPr>
            </a:pPr>
            <a:r>
              <a:rPr sz="4650" b="1">
                <a:solidFill>
                  <a:srgbClr val="F56B16"/>
                </a:solidFill>
                <a:latin typeface="Arial"/>
                <a:ea typeface="Arial"/>
                <a:cs typeface="Arial"/>
              </a:rPr>
              <a:t>15 / 16</a:t>
            </a:r>
          </a:p>
        </p:txBody>
      </p:sp>
      <p:sp>
        <p:nvSpPr>
          <p:cNvPr id="7" name="Selected pure tests passed&#10;One expectation disagreement">
            <a:extLst xmlns:a="http://schemas.openxmlformats.org/drawingml/2006/main">
              <a:ext uri="{FF2B5EF4-FFF2-40B4-BE49-F238E27FC236}">
                <a16:creationId xmlns:a16="http://schemas.microsoft.com/office/drawing/2014/main" id="{03D35AEB-0077-445C-AAA5-9EE75EC0E945}"/>
              </a:ext>
            </a:extLst>
          </p:cNvPr>
          <p:cNvSpPr>
            <a:spLocks xmlns:a="http://schemas.openxmlformats.org/drawingml/2006/main" noGrp="1"/>
          </p:cNvSpPr>
          <p:nvPr/>
        </p:nvSpPr>
        <p:spPr>
          <a:xfrm xmlns:a="http://schemas.openxmlformats.org/drawingml/2006/main">
            <a:off x="7781925" y="3171825"/>
            <a:ext cx="3619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B20"/>
                </a:solidFill>
                <a:latin typeface="Arial"/>
                <a:ea typeface="Arial"/>
                <a:cs typeface="Arial"/>
              </a:defRPr>
            </a:pPr>
            <a:r>
              <a:rPr sz="1950" b="0">
                <a:solidFill>
                  <a:srgbClr val="171B20"/>
                </a:solidFill>
                <a:latin typeface="Arial"/>
                <a:ea typeface="Arial"/>
                <a:cs typeface="Arial"/>
              </a:rPr>
              <a:t>Selected pure tests passed</a:t>
            </a:r>
          </a:p>
          <a:p xmlns:a="http://schemas.openxmlformats.org/drawingml/2006/main">
            <a:pPr>
              <a:defRPr sz="1950" b="0">
                <a:solidFill>
                  <a:srgbClr val="171B20"/>
                </a:solidFill>
                <a:latin typeface="Arial"/>
                <a:ea typeface="Arial"/>
                <a:cs typeface="Arial"/>
              </a:defRPr>
            </a:pPr>
            <a:r>
              <a:rPr sz="1950" b="0">
                <a:solidFill>
                  <a:srgbClr val="171B20"/>
                </a:solidFill>
                <a:latin typeface="Arial"/>
                <a:ea typeface="Arial"/>
                <a:cs typeface="Arial"/>
              </a:rPr>
              <a:t>One expectation disagreement</a:t>
            </a:r>
          </a:p>
        </p:txBody>
      </p:sp>
      <p:sp>
        <p:nvSpPr>
          <p:cNvPr id="8" name="Full Docker, OCR, model, and database journey&#10;still requires">
            <a:extLst xmlns:a="http://schemas.openxmlformats.org/drawingml/2006/main">
              <a:ext uri="{FF2B5EF4-FFF2-40B4-BE49-F238E27FC236}">
                <a16:creationId xmlns:a16="http://schemas.microsoft.com/office/drawing/2014/main" id="{3E2E14D3-F33A-408B-B21A-E76CCD4705FC}"/>
              </a:ext>
            </a:extLst>
          </p:cNvPr>
          <p:cNvSpPr>
            <a:spLocks xmlns:a="http://schemas.openxmlformats.org/drawingml/2006/main" noGrp="1"/>
          </p:cNvSpPr>
          <p:nvPr/>
        </p:nvSpPr>
        <p:spPr>
          <a:xfrm xmlns:a="http://schemas.openxmlformats.org/drawingml/2006/main">
            <a:off x="619125" y="4610100"/>
            <a:ext cx="1066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1B20"/>
                </a:solidFill>
                <a:latin typeface="Arial"/>
                <a:ea typeface="Arial"/>
                <a:cs typeface="Arial"/>
              </a:defRPr>
            </a:pPr>
            <a:r>
              <a:rPr sz="2550" b="1">
                <a:solidFill>
                  <a:srgbClr val="171B20"/>
                </a:solidFill>
                <a:latin typeface="Arial"/>
                <a:ea typeface="Arial"/>
                <a:cs typeface="Arial"/>
              </a:rPr>
              <a:t>Full Docker, OCR, model, and database journey</a:t>
            </a:r>
          </a:p>
          <a:p xmlns:a="http://schemas.openxmlformats.org/drawingml/2006/main">
            <a:pPr>
              <a:defRPr sz="2550" b="1">
                <a:solidFill>
                  <a:srgbClr val="171B20"/>
                </a:solidFill>
                <a:latin typeface="Arial"/>
                <a:ea typeface="Arial"/>
                <a:cs typeface="Arial"/>
              </a:defRPr>
            </a:pPr>
            <a:r>
              <a:rPr sz="2550" b="1">
                <a:solidFill>
                  <a:srgbClr val="171B20"/>
                </a:solidFill>
                <a:latin typeface="Arial"/>
                <a:ea typeface="Arial"/>
                <a:cs typeface="Arial"/>
              </a:rPr>
              <a:t>still requires a clean rehearsal.</a:t>
            </a:r>
          </a:p>
        </p:txBody>
      </p:sp>
      <p:sp>
        <p:nvSpPr>
          <p:cNvPr id="9" name="Review snapshot: 30 September 2026. These are not model-accu">
            <a:extLst xmlns:a="http://schemas.openxmlformats.org/drawingml/2006/main">
              <a:ext uri="{FF2B5EF4-FFF2-40B4-BE49-F238E27FC236}">
                <a16:creationId xmlns:a16="http://schemas.microsoft.com/office/drawing/2014/main" id="{94B5CFDA-6D95-4F67-B912-6FF7AC836035}"/>
              </a:ext>
            </a:extLst>
          </p:cNvPr>
          <p:cNvSpPr>
            <a:spLocks xmlns:a="http://schemas.openxmlformats.org/drawingml/2006/main" noGrp="1"/>
          </p:cNvSpPr>
          <p:nvPr/>
        </p:nvSpPr>
        <p:spPr>
          <a:xfrm xmlns:a="http://schemas.openxmlformats.org/drawingml/2006/main">
            <a:off x="619125" y="59340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C5E60"/>
                </a:solidFill>
                <a:latin typeface="Arial"/>
                <a:ea typeface="Arial"/>
                <a:cs typeface="Arial"/>
              </a:defRPr>
            </a:pPr>
            <a:r>
              <a:rPr sz="1575" b="0">
                <a:solidFill>
                  <a:srgbClr val="5C5E60"/>
                </a:solidFill>
                <a:latin typeface="Arial"/>
                <a:ea typeface="Arial"/>
                <a:cs typeface="Arial"/>
              </a:rPr>
              <a:t>Review snapshot: 30 September 2026. These are not model-accuracy results.</a:t>
            </a:r>
          </a:p>
        </p:txBody>
      </p:sp>
    </p:spTree>
    <p:extLst>
      <p:ext uri="{BB962C8B-B14F-4D97-AF65-F5344CB8AC3E}">
        <p14:creationId xmlns:p14="http://schemas.microsoft.com/office/powerpoint/2010/main" val="164115474"/>
      </p:ext>
    </p:extLst>
  </p:cSld>
</p:sld>
</file>

<file path=ppt/slides/slide10.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7" name="CLEARANCEX">
            <a:extLst xmlns:a="http://schemas.openxmlformats.org/drawingml/2006/main">
              <a:ext uri="{FF2B5EF4-FFF2-40B4-BE49-F238E27FC236}">
                <a16:creationId xmlns:a16="http://schemas.microsoft.com/office/drawing/2014/main" id="{A14EC874-1F2E-4EFD-A86A-661DBAD3AD86}"/>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CLEARANCEX</a:t>
            </a:r>
          </a:p>
        </p:txBody>
      </p:sp>
      <p:sp>
        <p:nvSpPr>
          <p:cNvPr id="2" name="Prototype boundaries">
            <a:extLst xmlns:a="http://schemas.openxmlformats.org/drawingml/2006/main">
              <a:ext uri="{FF2B5EF4-FFF2-40B4-BE49-F238E27FC236}">
                <a16:creationId xmlns:a16="http://schemas.microsoft.com/office/drawing/2014/main" id="{B3A9E56F-6DCD-4C10-8044-5889F1E3CB4C}"/>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Prototype boundaries</a:t>
            </a:r>
          </a:p>
        </p:txBody>
      </p:sp>
      <p:sp>
        <p:nvSpPr>
          <p:cNvPr id="3" name="10">
            <a:extLst xmlns:a="http://schemas.openxmlformats.org/drawingml/2006/main">
              <a:ext uri="{FF2B5EF4-FFF2-40B4-BE49-F238E27FC236}">
                <a16:creationId xmlns:a16="http://schemas.microsoft.com/office/drawing/2014/main" id="{6246E9F8-512C-42C9-8F13-48A48A6AAA3D}"/>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10</a:t>
            </a:r>
          </a:p>
        </p:txBody>
      </p:sp>
      <p:sp>
        <p:nvSpPr>
          <p:cNvPr id="4" name="The review workflow is implemented.&#10;Production guarantees ne">
            <a:extLst xmlns:a="http://schemas.openxmlformats.org/drawingml/2006/main">
              <a:ext uri="{FF2B5EF4-FFF2-40B4-BE49-F238E27FC236}">
                <a16:creationId xmlns:a16="http://schemas.microsoft.com/office/drawing/2014/main" id="{6FD32684-325F-4EBA-9545-77986A8818EC}"/>
              </a:ext>
            </a:extLst>
          </p:cNvPr>
          <p:cNvSpPr>
            <a:spLocks xmlns:a="http://schemas.openxmlformats.org/drawingml/2006/main" noGrp="1"/>
          </p:cNvSpPr>
          <p:nvPr/>
        </p:nvSpPr>
        <p:spPr>
          <a:xfrm xmlns:a="http://schemas.openxmlformats.org/drawingml/2006/main">
            <a:off x="619125" y="2066925"/>
            <a:ext cx="10810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8EF"/>
                </a:solidFill>
                <a:latin typeface="Arial"/>
                <a:ea typeface="Arial"/>
                <a:cs typeface="Arial"/>
              </a:defRPr>
            </a:pPr>
            <a:r>
              <a:rPr sz="3000" b="1">
                <a:solidFill>
                  <a:srgbClr val="FFF8EF"/>
                </a:solidFill>
                <a:latin typeface="Arial"/>
                <a:ea typeface="Arial"/>
                <a:cs typeface="Arial"/>
              </a:rPr>
              <a:t>The review workflow is implemented.</a:t>
            </a:r>
          </a:p>
          <a:p xmlns:a="http://schemas.openxmlformats.org/drawingml/2006/main">
            <a:pPr>
              <a:defRPr sz="3000" b="1">
                <a:solidFill>
                  <a:srgbClr val="FFF8EF"/>
                </a:solidFill>
                <a:latin typeface="Arial"/>
                <a:ea typeface="Arial"/>
                <a:cs typeface="Arial"/>
              </a:defRPr>
            </a:pPr>
            <a:r>
              <a:rPr sz="3000" b="1">
                <a:solidFill>
                  <a:srgbClr val="FFF8EF"/>
                </a:solidFill>
                <a:latin typeface="Arial"/>
                <a:ea typeface="Arial"/>
                <a:cs typeface="Arial"/>
              </a:rPr>
              <a:t>Production guarantees need more work.</a:t>
            </a:r>
          </a:p>
        </p:txBody>
      </p:sp>
      <p:sp>
        <p:nvSpPr>
          <p:cNvPr id="5" name="Simulated authentication&#10;In-memory prototype audit trail&#10;Heu">
            <a:extLst xmlns:a="http://schemas.openxmlformats.org/drawingml/2006/main">
              <a:ext uri="{FF2B5EF4-FFF2-40B4-BE49-F238E27FC236}">
                <a16:creationId xmlns:a16="http://schemas.microsoft.com/office/drawing/2014/main" id="{6F4F02F8-2319-4B99-8EFB-74CF99D1C011}"/>
              </a:ext>
            </a:extLst>
          </p:cNvPr>
          <p:cNvSpPr>
            <a:spLocks xmlns:a="http://schemas.openxmlformats.org/drawingml/2006/main" noGrp="1"/>
          </p:cNvSpPr>
          <p:nvPr/>
        </p:nvSpPr>
        <p:spPr>
          <a:xfrm xmlns:a="http://schemas.openxmlformats.org/drawingml/2006/main">
            <a:off x="666750" y="3686175"/>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Simulated authentication</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In-memory prototype audit trail</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Heuristic confidence</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Incomplete item-level export validation</a:t>
            </a:r>
          </a:p>
        </p:txBody>
      </p:sp>
      <p:sp>
        <p:nvSpPr>
          <p:cNvPr id="6" name="Next: harden the workflow, then validate with permissioned d">
            <a:extLst xmlns:a="http://schemas.openxmlformats.org/drawingml/2006/main">
              <a:ext uri="{FF2B5EF4-FFF2-40B4-BE49-F238E27FC236}">
                <a16:creationId xmlns:a16="http://schemas.microsoft.com/office/drawing/2014/main" id="{31576F9E-6713-4213-9EE0-589B0960D6B6}"/>
              </a:ext>
            </a:extLst>
          </p:cNvPr>
          <p:cNvSpPr>
            <a:spLocks xmlns:a="http://schemas.openxmlformats.org/drawingml/2006/main" noGrp="1"/>
          </p:cNvSpPr>
          <p:nvPr/>
        </p:nvSpPr>
        <p:spPr>
          <a:xfrm xmlns:a="http://schemas.openxmlformats.org/drawingml/2006/main">
            <a:off x="619125" y="5905500"/>
            <a:ext cx="10620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56B16"/>
                </a:solidFill>
                <a:latin typeface="Arial"/>
                <a:ea typeface="Arial"/>
                <a:cs typeface="Arial"/>
              </a:defRPr>
            </a:pPr>
            <a:r>
              <a:rPr sz="1800" b="0">
                <a:solidFill>
                  <a:srgbClr val="F56B16"/>
                </a:solidFill>
                <a:latin typeface="Arial"/>
                <a:ea typeface="Arial"/>
                <a:cs typeface="Arial"/>
              </a:rPr>
              <a:t>Next: harden the workflow, then validate with permissioned dossiers.</a:t>
            </a:r>
          </a:p>
        </p:txBody>
      </p:sp>
    </p:spTree>
    <p:extLst>
      <p:ext uri="{BB962C8B-B14F-4D97-AF65-F5344CB8AC3E}">
        <p14:creationId xmlns:p14="http://schemas.microsoft.com/office/powerpoint/2010/main" val="1206819622"/>
      </p:ext>
    </p:extLst>
  </p:cSld>
</p:sld>
</file>

<file path=ppt/slides/slide11.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7" name="CLEARANCEX">
            <a:extLst xmlns:a="http://schemas.openxmlformats.org/drawingml/2006/main">
              <a:ext uri="{FF2B5EF4-FFF2-40B4-BE49-F238E27FC236}">
                <a16:creationId xmlns:a16="http://schemas.microsoft.com/office/drawing/2014/main" id="{06F3DDF9-F7E9-4F6A-B6AA-2D625D13DA65}"/>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CLEARANCEX</a:t>
            </a:r>
          </a:p>
        </p:txBody>
      </p:sp>
      <p:sp>
        <p:nvSpPr>
          <p:cNvPr id="2" name="Pilot and measurable value">
            <a:extLst xmlns:a="http://schemas.openxmlformats.org/drawingml/2006/main">
              <a:ext uri="{FF2B5EF4-FFF2-40B4-BE49-F238E27FC236}">
                <a16:creationId xmlns:a16="http://schemas.microsoft.com/office/drawing/2014/main" id="{83B14D2B-5158-45B8-A737-3660DC8B8577}"/>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Pilot and measurable value</a:t>
            </a:r>
          </a:p>
        </p:txBody>
      </p:sp>
      <p:sp>
        <p:nvSpPr>
          <p:cNvPr id="3" name="11">
            <a:extLst xmlns:a="http://schemas.openxmlformats.org/drawingml/2006/main">
              <a:ext uri="{FF2B5EF4-FFF2-40B4-BE49-F238E27FC236}">
                <a16:creationId xmlns:a16="http://schemas.microsoft.com/office/drawing/2014/main" id="{F308A9BE-6482-4230-BF80-B2BF71F777C2}"/>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11</a:t>
            </a:r>
          </a:p>
        </p:txBody>
      </p:sp>
      <p:sp>
        <p:nvSpPr>
          <p:cNvPr id="4" name="A broker pilot with&#10;permissioned dossiers">
            <a:extLst xmlns:a="http://schemas.openxmlformats.org/drawingml/2006/main">
              <a:ext uri="{FF2B5EF4-FFF2-40B4-BE49-F238E27FC236}">
                <a16:creationId xmlns:a16="http://schemas.microsoft.com/office/drawing/2014/main" id="{D31A545F-94B7-412B-BE5D-46FA1F930C1E}"/>
              </a:ext>
            </a:extLst>
          </p:cNvPr>
          <p:cNvSpPr>
            <a:spLocks xmlns:a="http://schemas.openxmlformats.org/drawingml/2006/main" noGrp="1"/>
          </p:cNvSpPr>
          <p:nvPr/>
        </p:nvSpPr>
        <p:spPr>
          <a:xfrm xmlns:a="http://schemas.openxmlformats.org/drawingml/2006/main">
            <a:off x="619125" y="2095500"/>
            <a:ext cx="107632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171B20"/>
                </a:solidFill>
                <a:latin typeface="Arial"/>
                <a:ea typeface="Arial"/>
                <a:cs typeface="Arial"/>
              </a:defRPr>
            </a:pPr>
            <a:r>
              <a:rPr sz="3525" b="1">
                <a:solidFill>
                  <a:srgbClr val="171B20"/>
                </a:solidFill>
                <a:latin typeface="Arial"/>
                <a:ea typeface="Arial"/>
                <a:cs typeface="Arial"/>
              </a:rPr>
              <a:t>A broker pilot with</a:t>
            </a:r>
          </a:p>
          <a:p xmlns:a="http://schemas.openxmlformats.org/drawingml/2006/main">
            <a:pPr>
              <a:defRPr sz="3525" b="1">
                <a:solidFill>
                  <a:srgbClr val="171B20"/>
                </a:solidFill>
                <a:latin typeface="Arial"/>
                <a:ea typeface="Arial"/>
                <a:cs typeface="Arial"/>
              </a:defRPr>
            </a:pPr>
            <a:r>
              <a:rPr sz="3525" b="1">
                <a:solidFill>
                  <a:srgbClr val="171B20"/>
                </a:solidFill>
                <a:latin typeface="Arial"/>
                <a:ea typeface="Arial"/>
                <a:cs typeface="Arial"/>
              </a:rPr>
              <a:t>permissioned dossiers</a:t>
            </a:r>
          </a:p>
        </p:txBody>
      </p:sp>
      <p:sp>
        <p:nvSpPr>
          <p:cNvPr id="5" name="Measure review time and missed conflicts.&#10;Check evidence acc">
            <a:extLst xmlns:a="http://schemas.openxmlformats.org/drawingml/2006/main">
              <a:ext uri="{FF2B5EF4-FFF2-40B4-BE49-F238E27FC236}">
                <a16:creationId xmlns:a16="http://schemas.microsoft.com/office/drawing/2014/main" id="{C02ADE9A-662C-4EE9-8B36-68C6EDBF2304}"/>
              </a:ext>
            </a:extLst>
          </p:cNvPr>
          <p:cNvSpPr>
            <a:spLocks xmlns:a="http://schemas.openxmlformats.org/drawingml/2006/main" noGrp="1"/>
          </p:cNvSpPr>
          <p:nvPr/>
        </p:nvSpPr>
        <p:spPr>
          <a:xfrm xmlns:a="http://schemas.openxmlformats.org/drawingml/2006/main">
            <a:off x="666750" y="3848100"/>
            <a:ext cx="10668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1B20"/>
                </a:solidFill>
                <a:latin typeface="Arial"/>
                <a:ea typeface="Arial"/>
                <a:cs typeface="Arial"/>
              </a:defRPr>
            </a:pPr>
            <a:r>
              <a:rPr sz="2175" b="0">
                <a:solidFill>
                  <a:srgbClr val="171B20"/>
                </a:solidFill>
                <a:latin typeface="Arial"/>
                <a:ea typeface="Arial"/>
                <a:cs typeface="Arial"/>
              </a:rPr>
              <a:t>Measure review time and missed conflicts.</a:t>
            </a:r>
          </a:p>
          <a:p xmlns:a="http://schemas.openxmlformats.org/drawingml/2006/main">
            <a:pPr>
              <a:defRPr sz="2175" b="0">
                <a:solidFill>
                  <a:srgbClr val="171B20"/>
                </a:solidFill>
                <a:latin typeface="Arial"/>
                <a:ea typeface="Arial"/>
                <a:cs typeface="Arial"/>
              </a:defRPr>
            </a:pPr>
            <a:r>
              <a:rPr sz="2175" b="0">
                <a:solidFill>
                  <a:srgbClr val="171B20"/>
                </a:solidFill>
                <a:latin typeface="Arial"/>
                <a:ea typeface="Arial"/>
                <a:cs typeface="Arial"/>
              </a:rPr>
              <a:t>Check evidence accuracy and false alerts.</a:t>
            </a:r>
          </a:p>
          <a:p xmlns:a="http://schemas.openxmlformats.org/drawingml/2006/main">
            <a:pPr>
              <a:defRPr sz="2175" b="0">
                <a:solidFill>
                  <a:srgbClr val="171B20"/>
                </a:solidFill>
                <a:latin typeface="Arial"/>
                <a:ea typeface="Arial"/>
                <a:cs typeface="Arial"/>
              </a:defRPr>
            </a:pPr>
            <a:r>
              <a:rPr sz="2175" b="0">
                <a:solidFill>
                  <a:srgbClr val="171B20"/>
                </a:solidFill>
                <a:latin typeface="Arial"/>
                <a:ea typeface="Arial"/>
                <a:cs typeface="Arial"/>
              </a:rPr>
              <a:t>Validate export mappings in a permitted test workflow.</a:t>
            </a:r>
          </a:p>
        </p:txBody>
      </p:sp>
      <p:sp>
        <p:nvSpPr>
          <p:cNvPr id="6" name="Commercial hypothesis: team subscription or per-dossier pric">
            <a:extLst xmlns:a="http://schemas.openxmlformats.org/drawingml/2006/main">
              <a:ext uri="{FF2B5EF4-FFF2-40B4-BE49-F238E27FC236}">
                <a16:creationId xmlns:a16="http://schemas.microsoft.com/office/drawing/2014/main" id="{B3932D3F-9959-4942-8D2F-1AFB2D67611C}"/>
              </a:ext>
            </a:extLst>
          </p:cNvPr>
          <p:cNvSpPr>
            <a:spLocks xmlns:a="http://schemas.openxmlformats.org/drawingml/2006/main" noGrp="1"/>
          </p:cNvSpPr>
          <p:nvPr/>
        </p:nvSpPr>
        <p:spPr>
          <a:xfrm xmlns:a="http://schemas.openxmlformats.org/drawingml/2006/main">
            <a:off x="619125" y="58197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56B16"/>
                </a:solidFill>
                <a:latin typeface="Arial"/>
                <a:ea typeface="Arial"/>
                <a:cs typeface="Arial"/>
              </a:defRPr>
            </a:pPr>
            <a:r>
              <a:rPr sz="1875" b="1">
                <a:solidFill>
                  <a:srgbClr val="F56B16"/>
                </a:solidFill>
                <a:latin typeface="Arial"/>
                <a:ea typeface="Arial"/>
                <a:cs typeface="Arial"/>
              </a:rPr>
              <a:t>Commercial hypothesis: team subscription or per-dossier pricing</a:t>
            </a:r>
          </a:p>
        </p:txBody>
      </p:sp>
    </p:spTree>
    <p:extLst>
      <p:ext uri="{BB962C8B-B14F-4D97-AF65-F5344CB8AC3E}">
        <p14:creationId xmlns:p14="http://schemas.microsoft.com/office/powerpoint/2010/main" val="1170244631"/>
      </p:ext>
    </p:extLst>
  </p:cSld>
</p:sld>
</file>

<file path=ppt/slides/slide12.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7" name="CLEARANCEX">
            <a:extLst xmlns:a="http://schemas.openxmlformats.org/drawingml/2006/main">
              <a:ext uri="{FF2B5EF4-FFF2-40B4-BE49-F238E27FC236}">
                <a16:creationId xmlns:a16="http://schemas.microsoft.com/office/drawing/2014/main" id="{9278CC4D-93E7-473F-B55A-C730101D45B9}"/>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CLEARANCEX</a:t>
            </a:r>
          </a:p>
        </p:txBody>
      </p:sp>
      <p:sp>
        <p:nvSpPr>
          <p:cNvPr id="2" name="Evidence a reviewer can defend">
            <a:extLst xmlns:a="http://schemas.openxmlformats.org/drawingml/2006/main">
              <a:ext uri="{FF2B5EF4-FFF2-40B4-BE49-F238E27FC236}">
                <a16:creationId xmlns:a16="http://schemas.microsoft.com/office/drawing/2014/main" id="{DE980F79-F858-4EA2-87A6-2EFAC3D2E148}"/>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Evidence a reviewer can defend</a:t>
            </a:r>
          </a:p>
        </p:txBody>
      </p:sp>
      <p:sp>
        <p:nvSpPr>
          <p:cNvPr id="3" name="12">
            <a:extLst xmlns:a="http://schemas.openxmlformats.org/drawingml/2006/main">
              <a:ext uri="{FF2B5EF4-FFF2-40B4-BE49-F238E27FC236}">
                <a16:creationId xmlns:a16="http://schemas.microsoft.com/office/drawing/2014/main" id="{E60334CA-7172-48DB-8900-FDE2DEEAEAC7}"/>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12</a:t>
            </a:r>
          </a:p>
        </p:txBody>
      </p:sp>
      <p:sp>
        <p:nvSpPr>
          <p:cNvPr id="4" name="ClearanceX">
            <a:extLst xmlns:a="http://schemas.openxmlformats.org/drawingml/2006/main">
              <a:ext uri="{FF2B5EF4-FFF2-40B4-BE49-F238E27FC236}">
                <a16:creationId xmlns:a16="http://schemas.microsoft.com/office/drawing/2014/main" id="{496362E8-2996-4565-890C-A6039649572A}"/>
              </a:ext>
            </a:extLst>
          </p:cNvPr>
          <p:cNvSpPr>
            <a:spLocks xmlns:a="http://schemas.openxmlformats.org/drawingml/2006/main" noGrp="1"/>
          </p:cNvSpPr>
          <p:nvPr/>
        </p:nvSpPr>
        <p:spPr>
          <a:xfrm xmlns:a="http://schemas.openxmlformats.org/drawingml/2006/main">
            <a:off x="619125" y="222885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56B16"/>
                </a:solidFill>
                <a:latin typeface="Arial"/>
                <a:ea typeface="Arial"/>
                <a:cs typeface="Arial"/>
              </a:defRPr>
            </a:pPr>
            <a:r>
              <a:rPr sz="5850" b="1">
                <a:solidFill>
                  <a:srgbClr val="F56B16"/>
                </a:solidFill>
                <a:latin typeface="Arial"/>
                <a:ea typeface="Arial"/>
                <a:cs typeface="Arial"/>
              </a:rPr>
              <a:t>ClearanceX</a:t>
            </a:r>
          </a:p>
        </p:txBody>
      </p:sp>
      <p:sp>
        <p:nvSpPr>
          <p:cNvPr id="5" name="Trace the source.&#10;Understand the conflict.&#10;Record the verifi">
            <a:extLst xmlns:a="http://schemas.openxmlformats.org/drawingml/2006/main">
              <a:ext uri="{FF2B5EF4-FFF2-40B4-BE49-F238E27FC236}">
                <a16:creationId xmlns:a16="http://schemas.microsoft.com/office/drawing/2014/main" id="{54352505-F282-4037-9262-E0907F5DC98E}"/>
              </a:ext>
            </a:extLst>
          </p:cNvPr>
          <p:cNvSpPr>
            <a:spLocks xmlns:a="http://schemas.openxmlformats.org/drawingml/2006/main" noGrp="1"/>
          </p:cNvSpPr>
          <p:nvPr/>
        </p:nvSpPr>
        <p:spPr>
          <a:xfrm xmlns:a="http://schemas.openxmlformats.org/drawingml/2006/main">
            <a:off x="666750" y="37623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8EF"/>
                </a:solidFill>
                <a:latin typeface="Arial"/>
                <a:ea typeface="Arial"/>
                <a:cs typeface="Arial"/>
              </a:defRPr>
            </a:pPr>
            <a:r>
              <a:rPr sz="2850" b="0">
                <a:solidFill>
                  <a:srgbClr val="FFF8EF"/>
                </a:solidFill>
                <a:latin typeface="Arial"/>
                <a:ea typeface="Arial"/>
                <a:cs typeface="Arial"/>
              </a:rPr>
              <a:t>Trace the source.</a:t>
            </a:r>
          </a:p>
          <a:p xmlns:a="http://schemas.openxmlformats.org/drawingml/2006/main">
            <a:pPr>
              <a:defRPr sz="2850" b="0">
                <a:solidFill>
                  <a:srgbClr val="FFF8EF"/>
                </a:solidFill>
                <a:latin typeface="Arial"/>
                <a:ea typeface="Arial"/>
                <a:cs typeface="Arial"/>
              </a:defRPr>
            </a:pPr>
            <a:r>
              <a:rPr sz="2850" b="0">
                <a:solidFill>
                  <a:srgbClr val="FFF8EF"/>
                </a:solidFill>
                <a:latin typeface="Arial"/>
                <a:ea typeface="Arial"/>
                <a:cs typeface="Arial"/>
              </a:rPr>
              <a:t>Understand the conflict.</a:t>
            </a:r>
          </a:p>
          <a:p xmlns:a="http://schemas.openxmlformats.org/drawingml/2006/main">
            <a:pPr>
              <a:defRPr sz="2850" b="0">
                <a:solidFill>
                  <a:srgbClr val="FFF8EF"/>
                </a:solidFill>
                <a:latin typeface="Arial"/>
                <a:ea typeface="Arial"/>
                <a:cs typeface="Arial"/>
              </a:defRPr>
            </a:pPr>
            <a:r>
              <a:rPr sz="2850" b="0">
                <a:solidFill>
                  <a:srgbClr val="FFF8EF"/>
                </a:solidFill>
                <a:latin typeface="Arial"/>
                <a:ea typeface="Arial"/>
                <a:cs typeface="Arial"/>
              </a:rPr>
              <a:t>Record the verified decision.</a:t>
            </a:r>
          </a:p>
        </p:txBody>
      </p:sp>
      <p:sp>
        <p:nvSpPr>
          <p:cNvPr id="6" name="Team Ants">
            <a:extLst xmlns:a="http://schemas.openxmlformats.org/drawingml/2006/main">
              <a:ext uri="{FF2B5EF4-FFF2-40B4-BE49-F238E27FC236}">
                <a16:creationId xmlns:a16="http://schemas.microsoft.com/office/drawing/2014/main" id="{55E22FF9-0381-44F5-91EC-9E5AF1075E4E}"/>
              </a:ext>
            </a:extLst>
          </p:cNvPr>
          <p:cNvSpPr>
            <a:spLocks xmlns:a="http://schemas.openxmlformats.org/drawingml/2006/main" noGrp="1"/>
          </p:cNvSpPr>
          <p:nvPr/>
        </p:nvSpPr>
        <p:spPr>
          <a:xfrm xmlns:a="http://schemas.openxmlformats.org/drawingml/2006/main">
            <a:off x="619125" y="6000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8EF"/>
                </a:solidFill>
                <a:latin typeface="Arial"/>
                <a:ea typeface="Arial"/>
                <a:cs typeface="Arial"/>
              </a:defRPr>
            </a:pPr>
            <a:r>
              <a:rPr sz="1875" b="1">
                <a:solidFill>
                  <a:srgbClr val="FFF8EF"/>
                </a:solidFill>
                <a:latin typeface="Arial"/>
                <a:ea typeface="Arial"/>
                <a:cs typeface="Arial"/>
              </a:rPr>
              <a:t>Team Ants</a:t>
            </a:r>
          </a:p>
        </p:txBody>
      </p:sp>
    </p:spTree>
    <p:extLst>
      <p:ext uri="{BB962C8B-B14F-4D97-AF65-F5344CB8AC3E}">
        <p14:creationId xmlns:p14="http://schemas.microsoft.com/office/powerpoint/2010/main" val="1769044181"/>
      </p:ext>
    </p:extLst>
  </p:cSld>
</p:sld>
</file>

<file path=ppt/slides/slide13.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6" name="VIVA BACKUP">
            <a:extLst xmlns:a="http://schemas.openxmlformats.org/drawingml/2006/main">
              <a:ext uri="{FF2B5EF4-FFF2-40B4-BE49-F238E27FC236}">
                <a16:creationId xmlns:a16="http://schemas.microsoft.com/office/drawing/2014/main" id="{86E4B26E-3A31-4E89-8051-3EBC0A7012C5}"/>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VIVA BACKUP</a:t>
            </a:r>
          </a:p>
        </p:txBody>
      </p:sp>
      <p:sp>
        <p:nvSpPr>
          <p:cNvPr id="2" name="The evidence graph">
            <a:extLst xmlns:a="http://schemas.openxmlformats.org/drawingml/2006/main">
              <a:ext uri="{FF2B5EF4-FFF2-40B4-BE49-F238E27FC236}">
                <a16:creationId xmlns:a16="http://schemas.microsoft.com/office/drawing/2014/main" id="{F918BCEA-EB76-406A-AACC-627B04069DCD}"/>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The evidence graph</a:t>
            </a:r>
          </a:p>
        </p:txBody>
      </p:sp>
      <p:sp>
        <p:nvSpPr>
          <p:cNvPr id="3" name="13">
            <a:extLst xmlns:a="http://schemas.openxmlformats.org/drawingml/2006/main">
              <a:ext uri="{FF2B5EF4-FFF2-40B4-BE49-F238E27FC236}">
                <a16:creationId xmlns:a16="http://schemas.microsoft.com/office/drawing/2014/main" id="{228C1366-152C-455B-AF48-94A65BBFF757}"/>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13</a:t>
            </a:r>
          </a:p>
        </p:txBody>
      </p:sp>
      <p:graphicFrame>
        <p:nvGraphicFramePr>
          <p:cNvPr id="9" name=""/>
          <p:cNvGraphicFramePr/>
          <p:nvPr/>
        </p:nvGraphicFramePr>
        <p:xfrm>
          <a:off xmlns:a="http://schemas.openxmlformats.org/drawingml/2006/main" x="609600" y="2124075"/>
          <a:ext xmlns:a="http://schemas.openxmlformats.org/drawingml/2006/main" cx="10972800" cy="3143250"/>
        </p:xfrm>
        <a:graphic xmlns:a="http://schemas.openxmlformats.org/drawingml/2006/main">
          <a:graphicData uri="http://schemas.openxmlformats.org/drawingml/2006/table">
            <a:tbl>
              <a:tblPr/>
              <a:tblGrid>
                <a:gridCol w="2590800"/>
                <a:gridCol w="3667125"/>
                <a:gridCol w="4714875"/>
              </a:tblGrid>
              <a:tr h="628650">
                <a:tc>
                  <a:txBody>
                    <a:bodyPr>
                      <a:noAutofit/>
                    </a:bodyPr>
                    <a:lstStyle/>
                    <a:p>
                      <a:r>
                        <a:rPr sz="1875" b="1">
                          <a:solidFill>
                            <a:srgbClr val="F56B16"/>
                          </a:solidFill>
                          <a:latin typeface="Arial"/>
                          <a:ea typeface="Arial"/>
                          <a:cs typeface="Arial"/>
                        </a:rPr>
                        <a:t>Node</a:t>
                      </a:r>
                    </a:p>
                  </a:txBody>
                  <a:tcPr marL="91440" marR="91440" marT="45720" marB="45720">
                    <a:solidFill>
                      <a:srgbClr val="F0DDC7"/>
                    </a:solidFill>
                  </a:tcPr>
                </a:tc>
                <a:tc>
                  <a:txBody>
                    <a:bodyPr>
                      <a:noAutofit/>
                    </a:bodyPr>
                    <a:lstStyle/>
                    <a:p>
                      <a:r>
                        <a:rPr sz="1875" b="1">
                          <a:solidFill>
                            <a:srgbClr val="F56B16"/>
                          </a:solidFill>
                          <a:latin typeface="Arial"/>
                          <a:ea typeface="Arial"/>
                          <a:cs typeface="Arial"/>
                        </a:rPr>
                        <a:t>Example</a:t>
                      </a:r>
                    </a:p>
                  </a:txBody>
                  <a:tcPr marL="91440" marR="91440" marT="45720" marB="45720">
                    <a:solidFill>
                      <a:srgbClr val="F0DDC7"/>
                    </a:solidFill>
                  </a:tcPr>
                </a:tc>
                <a:tc>
                  <a:txBody>
                    <a:bodyPr>
                      <a:noAutofit/>
                    </a:bodyPr>
                    <a:lstStyle/>
                    <a:p>
                      <a:r>
                        <a:rPr sz="1875" b="1">
                          <a:solidFill>
                            <a:srgbClr val="F56B16"/>
                          </a:solidFill>
                          <a:latin typeface="Arial"/>
                          <a:ea typeface="Arial"/>
                          <a:cs typeface="Arial"/>
                        </a:rPr>
                        <a:t>Why it exists</a:t>
                      </a:r>
                    </a:p>
                  </a:txBody>
                  <a:tcPr marL="91440" marR="91440" marT="45720" marB="45720">
                    <a:solidFill>
                      <a:srgbClr val="F0DDC7"/>
                    </a:solidFill>
                  </a:tcPr>
                </a:tc>
              </a:tr>
              <a:tr h="628650">
                <a:tc>
                  <a:txBody>
                    <a:bodyPr>
                      <a:noAutofit/>
                    </a:bodyPr>
                    <a:lstStyle/>
                    <a:p>
                      <a:r>
                        <a:rPr sz="1875" b="0">
                          <a:solidFill>
                            <a:srgbClr val="171B20"/>
                          </a:solidFill>
                          <a:latin typeface="Arial"/>
                          <a:ea typeface="Arial"/>
                          <a:cs typeface="Arial"/>
                        </a:rPr>
                        <a:t>Shipment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Dossier A</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Groups one shipment’s evidence</a:t>
                      </a:r>
                    </a:p>
                  </a:txBody>
                  <a:tcPr marL="91440" marR="91440" marT="45720" marB="45720">
                    <a:solidFill>
                      <a:srgbClr val="FFF8EF"/>
                    </a:solidFill>
                  </a:tcPr>
                </a:tc>
              </a:tr>
              <a:tr h="628650">
                <a:tc>
                  <a:txBody>
                    <a:bodyPr>
                      <a:noAutofit/>
                    </a:bodyPr>
                    <a:lstStyle/>
                    <a:p>
                      <a:r>
                        <a:rPr sz="1875" b="0">
                          <a:solidFill>
                            <a:srgbClr val="171B20"/>
                          </a:solidFill>
                          <a:latin typeface="Arial"/>
                          <a:ea typeface="Arial"/>
                          <a:cs typeface="Arial"/>
                        </a:rPr>
                        <a:t>Canonical field</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Gross weight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Holds the proposed or reviewed value</a:t>
                      </a:r>
                    </a:p>
                  </a:txBody>
                  <a:tcPr marL="91440" marR="91440" marT="45720" marB="45720">
                    <a:solidFill>
                      <a:srgbClr val="FFF8EF"/>
                    </a:solidFill>
                  </a:tcPr>
                </a:tc>
              </a:tr>
              <a:tr h="628650">
                <a:tc>
                  <a:txBody>
                    <a:bodyPr>
                      <a:noAutofit/>
                    </a:bodyPr>
                    <a:lstStyle/>
                    <a:p>
                      <a:r>
                        <a:rPr sz="1875" b="0">
                          <a:solidFill>
                            <a:srgbClr val="171B20"/>
                          </a:solidFill>
                          <a:latin typeface="Arial"/>
                          <a:ea typeface="Arial"/>
                          <a:cs typeface="Arial"/>
                        </a:rPr>
                        <a:t>Document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Air waybill</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Identifies an evidence source</a:t>
                      </a:r>
                    </a:p>
                  </a:txBody>
                  <a:tcPr marL="91440" marR="91440" marT="45720" marB="45720">
                    <a:solidFill>
                      <a:srgbClr val="FFF8EF"/>
                    </a:solidFill>
                  </a:tcPr>
                </a:tc>
              </a:tr>
              <a:tr h="628650">
                <a:tc>
                  <a:txBody>
                    <a:bodyPr>
                      <a:noAutofit/>
                    </a:bodyPr>
                    <a:lstStyle/>
                    <a:p>
                      <a:r>
                        <a:rPr sz="1875" b="0">
                          <a:solidFill>
                            <a:srgbClr val="171B20"/>
                          </a:solidFill>
                          <a:latin typeface="Arial"/>
                          <a:ea typeface="Arial"/>
                          <a:cs typeface="Arial"/>
                        </a:rPr>
                        <a:t>Source assertion</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448.5 kg, page 1, bbox</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Preserves what that source says</a:t>
                      </a:r>
                    </a:p>
                  </a:txBody>
                  <a:tcPr marL="91440" marR="91440" marT="45720" marB="45720">
                    <a:solidFill>
                      <a:srgbClr val="FFF8EF"/>
                    </a:solidFill>
                  </a:tcPr>
                </a:tc>
              </a:tr>
            </a:tbl>
          </a:graphicData>
        </a:graphic>
      </p:graphicFrame>
      <p:sp>
        <p:nvSpPr>
          <p:cNvPr id="5" name="Reviewer overrides preserve the original source assertions.">
            <a:extLst xmlns:a="http://schemas.openxmlformats.org/drawingml/2006/main">
              <a:ext uri="{FF2B5EF4-FFF2-40B4-BE49-F238E27FC236}">
                <a16:creationId xmlns:a16="http://schemas.microsoft.com/office/drawing/2014/main" id="{F38B0171-D892-4CF4-A2B9-C6583D570098}"/>
              </a:ext>
            </a:extLst>
          </p:cNvPr>
          <p:cNvSpPr>
            <a:spLocks xmlns:a="http://schemas.openxmlformats.org/drawingml/2006/main" noGrp="1"/>
          </p:cNvSpPr>
          <p:nvPr/>
        </p:nvSpPr>
        <p:spPr>
          <a:xfrm xmlns:a="http://schemas.openxmlformats.org/drawingml/2006/main">
            <a:off x="619125" y="56959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56B16"/>
                </a:solidFill>
                <a:latin typeface="Arial"/>
                <a:ea typeface="Arial"/>
                <a:cs typeface="Arial"/>
              </a:defRPr>
            </a:pPr>
            <a:r>
              <a:rPr sz="2250" b="1">
                <a:solidFill>
                  <a:srgbClr val="F56B16"/>
                </a:solidFill>
                <a:latin typeface="Arial"/>
                <a:ea typeface="Arial"/>
                <a:cs typeface="Arial"/>
              </a:rPr>
              <a:t>Reviewer overrides preserve the original source assertions.</a:t>
            </a:r>
          </a:p>
        </p:txBody>
      </p:sp>
    </p:spTree>
    <p:extLst>
      <p:ext uri="{BB962C8B-B14F-4D97-AF65-F5344CB8AC3E}">
        <p14:creationId xmlns:p14="http://schemas.microsoft.com/office/powerpoint/2010/main" val="2065928110"/>
      </p:ext>
    </p:extLst>
  </p:cSld>
</p:sld>
</file>

<file path=ppt/slides/slide14.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7" name="VIVA BACKUP">
            <a:extLst xmlns:a="http://schemas.openxmlformats.org/drawingml/2006/main">
              <a:ext uri="{FF2B5EF4-FFF2-40B4-BE49-F238E27FC236}">
                <a16:creationId xmlns:a16="http://schemas.microsoft.com/office/drawing/2014/main" id="{41A2837F-847A-4B57-B85D-D93DD3B1D7AA}"/>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VIVA BACKUP</a:t>
            </a:r>
          </a:p>
        </p:txBody>
      </p:sp>
      <p:sp>
        <p:nvSpPr>
          <p:cNvPr id="2" name="Confidence is a heuristic">
            <a:extLst xmlns:a="http://schemas.openxmlformats.org/drawingml/2006/main">
              <a:ext uri="{FF2B5EF4-FFF2-40B4-BE49-F238E27FC236}">
                <a16:creationId xmlns:a16="http://schemas.microsoft.com/office/drawing/2014/main" id="{4A22A22C-EAD6-4EAF-9B71-FB613DD80622}"/>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Confidence is a heuristic</a:t>
            </a:r>
          </a:p>
        </p:txBody>
      </p:sp>
      <p:sp>
        <p:nvSpPr>
          <p:cNvPr id="3" name="14">
            <a:extLst xmlns:a="http://schemas.openxmlformats.org/drawingml/2006/main">
              <a:ext uri="{FF2B5EF4-FFF2-40B4-BE49-F238E27FC236}">
                <a16:creationId xmlns:a16="http://schemas.microsoft.com/office/drawing/2014/main" id="{9ABD7F36-0315-4D1A-958F-02AAC324BEF1}"/>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14</a:t>
            </a:r>
          </a:p>
        </p:txBody>
      </p:sp>
      <p:sp>
        <p:nvSpPr>
          <p:cNvPr id="4" name="0.55 × OCR  +  0.35 × bbox match&#10;+  0.10 × warning factor">
            <a:extLst xmlns:a="http://schemas.openxmlformats.org/drawingml/2006/main">
              <a:ext uri="{FF2B5EF4-FFF2-40B4-BE49-F238E27FC236}">
                <a16:creationId xmlns:a16="http://schemas.microsoft.com/office/drawing/2014/main" id="{6CC9BE43-C98F-4DAA-BA5E-F9D46E946A45}"/>
              </a:ext>
            </a:extLst>
          </p:cNvPr>
          <p:cNvSpPr>
            <a:spLocks xmlns:a="http://schemas.openxmlformats.org/drawingml/2006/main" noGrp="1"/>
          </p:cNvSpPr>
          <p:nvPr/>
        </p:nvSpPr>
        <p:spPr>
          <a:xfrm xmlns:a="http://schemas.openxmlformats.org/drawingml/2006/main">
            <a:off x="619125" y="2143125"/>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8EF"/>
                </a:solidFill>
                <a:latin typeface="Arial"/>
                <a:ea typeface="Arial"/>
                <a:cs typeface="Arial"/>
              </a:defRPr>
            </a:pPr>
            <a:r>
              <a:rPr sz="3150" b="1">
                <a:solidFill>
                  <a:srgbClr val="FFF8EF"/>
                </a:solidFill>
                <a:latin typeface="Arial"/>
                <a:ea typeface="Arial"/>
                <a:cs typeface="Arial"/>
              </a:rPr>
              <a:t>0.55 × OCR  +  0.35 × bbox match</a:t>
            </a:r>
          </a:p>
          <a:p xmlns:a="http://schemas.openxmlformats.org/drawingml/2006/main">
            <a:pPr>
              <a:defRPr sz="3150" b="1">
                <a:solidFill>
                  <a:srgbClr val="FFF8EF"/>
                </a:solidFill>
                <a:latin typeface="Arial"/>
                <a:ea typeface="Arial"/>
                <a:cs typeface="Arial"/>
              </a:defRPr>
            </a:pPr>
            <a:r>
              <a:rPr sz="3150" b="1">
                <a:solidFill>
                  <a:srgbClr val="FFF8EF"/>
                </a:solidFill>
                <a:latin typeface="Arial"/>
                <a:ea typeface="Arial"/>
                <a:cs typeface="Arial"/>
              </a:rPr>
              <a:t>+  0.10 × warning factor</a:t>
            </a:r>
          </a:p>
        </p:txBody>
      </p:sp>
      <p:sp>
        <p:nvSpPr>
          <p:cNvPr id="5" name="Current missing inputs can produce a default 0.80.&#10;The XAI c">
            <a:extLst xmlns:a="http://schemas.openxmlformats.org/drawingml/2006/main">
              <a:ext uri="{FF2B5EF4-FFF2-40B4-BE49-F238E27FC236}">
                <a16:creationId xmlns:a16="http://schemas.microsoft.com/office/drawing/2014/main" id="{CBDB3E0A-F00A-48B0-928F-8B146DFABAD2}"/>
              </a:ext>
            </a:extLst>
          </p:cNvPr>
          <p:cNvSpPr>
            <a:spLocks xmlns:a="http://schemas.openxmlformats.org/drawingml/2006/main" noGrp="1"/>
          </p:cNvSpPr>
          <p:nvPr/>
        </p:nvSpPr>
        <p:spPr>
          <a:xfrm xmlns:a="http://schemas.openxmlformats.org/drawingml/2006/main">
            <a:off x="666750" y="3933825"/>
            <a:ext cx="10763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Current missing inputs can produce a default 0.80.</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The XAI compiler multiplies two entity scores:</a:t>
            </a:r>
          </a:p>
          <a:p xmlns:a="http://schemas.openxmlformats.org/drawingml/2006/main">
            <a:pPr>
              <a:defRPr sz="2250" b="0">
                <a:solidFill>
                  <a:srgbClr val="FFF8EF"/>
                </a:solidFill>
                <a:latin typeface="Arial"/>
                <a:ea typeface="Arial"/>
                <a:cs typeface="Arial"/>
              </a:defRPr>
            </a:pPr>
            <a:r>
              <a:rPr sz="2250" b="0">
                <a:solidFill>
                  <a:srgbClr val="FFF8EF"/>
                </a:solidFill>
                <a:latin typeface="Arial"/>
                <a:ea typeface="Arial"/>
                <a:cs typeface="Arial"/>
              </a:rPr>
              <a:t>0.80 × 0.80 = 0.64</a:t>
            </a:r>
          </a:p>
        </p:txBody>
      </p:sp>
      <p:sp>
        <p:nvSpPr>
          <p:cNvPr id="6" name="Required next: measured inputs, calibration, and separate se">
            <a:extLst xmlns:a="http://schemas.openxmlformats.org/drawingml/2006/main">
              <a:ext uri="{FF2B5EF4-FFF2-40B4-BE49-F238E27FC236}">
                <a16:creationId xmlns:a16="http://schemas.microsoft.com/office/drawing/2014/main" id="{8808487A-0825-4366-8046-DECBB98C7ACC}"/>
              </a:ext>
            </a:extLst>
          </p:cNvPr>
          <p:cNvSpPr>
            <a:spLocks xmlns:a="http://schemas.openxmlformats.org/drawingml/2006/main" noGrp="1"/>
          </p:cNvSpPr>
          <p:nvPr/>
        </p:nvSpPr>
        <p:spPr>
          <a:xfrm xmlns:a="http://schemas.openxmlformats.org/drawingml/2006/main">
            <a:off x="619125" y="5924550"/>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56B16"/>
                </a:solidFill>
                <a:latin typeface="Arial"/>
                <a:ea typeface="Arial"/>
                <a:cs typeface="Arial"/>
              </a:defRPr>
            </a:pPr>
            <a:r>
              <a:rPr sz="1875" b="0">
                <a:solidFill>
                  <a:srgbClr val="F56B16"/>
                </a:solidFill>
                <a:latin typeface="Arial"/>
                <a:ea typeface="Arial"/>
                <a:cs typeface="Arial"/>
              </a:rPr>
              <a:t>Required next: measured inputs, calibration, and separate severity.</a:t>
            </a:r>
          </a:p>
        </p:txBody>
      </p:sp>
    </p:spTree>
    <p:extLst>
      <p:ext uri="{BB962C8B-B14F-4D97-AF65-F5344CB8AC3E}">
        <p14:creationId xmlns:p14="http://schemas.microsoft.com/office/powerpoint/2010/main" val="1817174011"/>
      </p:ext>
    </p:extLst>
  </p:cSld>
</p:sld>
</file>

<file path=ppt/slides/slide15.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6" name="VIVA BACKUP">
            <a:extLst xmlns:a="http://schemas.openxmlformats.org/drawingml/2006/main">
              <a:ext uri="{FF2B5EF4-FFF2-40B4-BE49-F238E27FC236}">
                <a16:creationId xmlns:a16="http://schemas.microsoft.com/office/drawing/2014/main" id="{338A6F5F-ED55-4C14-A6AA-1D0DEBC366CE}"/>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VIVA BACKUP</a:t>
            </a:r>
          </a:p>
        </p:txBody>
      </p:sp>
      <p:sp>
        <p:nvSpPr>
          <p:cNvPr id="2" name="XML export: capability and boundary">
            <a:extLst xmlns:a="http://schemas.openxmlformats.org/drawingml/2006/main">
              <a:ext uri="{FF2B5EF4-FFF2-40B4-BE49-F238E27FC236}">
                <a16:creationId xmlns:a16="http://schemas.microsoft.com/office/drawing/2014/main" id="{C2CE5FB6-C42F-45D3-BD2F-E7A39F2C7A07}"/>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XML export: capability and boundary</a:t>
            </a:r>
          </a:p>
        </p:txBody>
      </p:sp>
      <p:sp>
        <p:nvSpPr>
          <p:cNvPr id="3" name="15">
            <a:extLst xmlns:a="http://schemas.openxmlformats.org/drawingml/2006/main">
              <a:ext uri="{FF2B5EF4-FFF2-40B4-BE49-F238E27FC236}">
                <a16:creationId xmlns:a16="http://schemas.microsoft.com/office/drawing/2014/main" id="{6729ECAB-4E41-4E8C-954F-6F6397930A29}"/>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15</a:t>
            </a:r>
          </a:p>
        </p:txBody>
      </p:sp>
      <p:graphicFrame>
        <p:nvGraphicFramePr>
          <p:cNvPr id="9" name=""/>
          <p:cNvGraphicFramePr/>
          <p:nvPr/>
        </p:nvGraphicFramePr>
        <p:xfrm>
          <a:off xmlns:a="http://schemas.openxmlformats.org/drawingml/2006/main" x="609600" y="2171700"/>
          <a:ext xmlns:a="http://schemas.openxmlformats.org/drawingml/2006/main" cx="10972800" cy="3267075"/>
        </p:xfrm>
        <a:graphic xmlns:a="http://schemas.openxmlformats.org/drawingml/2006/main">
          <a:graphicData uri="http://schemas.openxmlformats.org/drawingml/2006/table">
            <a:tbl>
              <a:tblPr/>
              <a:tblGrid>
                <a:gridCol w="5486400"/>
                <a:gridCol w="5486400"/>
              </a:tblGrid>
              <a:tr h="653415">
                <a:tc>
                  <a:txBody>
                    <a:bodyPr>
                      <a:noAutofit/>
                    </a:bodyPr>
                    <a:lstStyle/>
                    <a:p>
                      <a:r>
                        <a:rPr sz="1875" b="1">
                          <a:solidFill>
                            <a:srgbClr val="F56B16"/>
                          </a:solidFill>
                          <a:latin typeface="Arial"/>
                          <a:ea typeface="Arial"/>
                          <a:cs typeface="Arial"/>
                        </a:rPr>
                        <a:t>Implemented</a:t>
                      </a:r>
                    </a:p>
                  </a:txBody>
                  <a:tcPr marL="91440" marR="91440" marT="45720" marB="45720">
                    <a:solidFill>
                      <a:srgbClr val="F0DDC7"/>
                    </a:solidFill>
                  </a:tcPr>
                </a:tc>
                <a:tc>
                  <a:txBody>
                    <a:bodyPr>
                      <a:noAutofit/>
                    </a:bodyPr>
                    <a:lstStyle/>
                    <a:p>
                      <a:r>
                        <a:rPr sz="1875" b="1">
                          <a:solidFill>
                            <a:srgbClr val="F56B16"/>
                          </a:solidFill>
                          <a:latin typeface="Arial"/>
                          <a:ea typeface="Arial"/>
                          <a:cs typeface="Arial"/>
                        </a:rPr>
                        <a:t>Still to validate</a:t>
                      </a:r>
                    </a:p>
                  </a:txBody>
                  <a:tcPr marL="91440" marR="91440" marT="45720" marB="45720">
                    <a:solidFill>
                      <a:srgbClr val="F0DDC7"/>
                    </a:solidFill>
                  </a:tcPr>
                </a:tc>
              </a:tr>
              <a:tr h="653415">
                <a:tc>
                  <a:txBody>
                    <a:bodyPr>
                      <a:noAutofit/>
                    </a:bodyPr>
                    <a:lstStyle/>
                    <a:p>
                      <a:r>
                        <a:rPr sz="1875" b="0">
                          <a:solidFill>
                            <a:srgbClr val="171B20"/>
                          </a:solidFill>
                          <a:latin typeface="Arial"/>
                          <a:ea typeface="Arial"/>
                          <a:cs typeface="Arial"/>
                        </a:rPr>
                        <a:t>Required-field readiness gate</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Official schema and code lists</a:t>
                      </a:r>
                    </a:p>
                  </a:txBody>
                  <a:tcPr marL="91440" marR="91440" marT="45720" marB="45720">
                    <a:solidFill>
                      <a:srgbClr val="FFF8EF"/>
                    </a:solidFill>
                  </a:tcPr>
                </a:tc>
              </a:tr>
              <a:tr h="653415">
                <a:tc>
                  <a:txBody>
                    <a:bodyPr>
                      <a:noAutofit/>
                    </a:bodyPr>
                    <a:lstStyle/>
                    <a:p>
                      <a:r>
                        <a:rPr sz="1875" b="0">
                          <a:solidFill>
                            <a:srgbClr val="171B20"/>
                          </a:solidFill>
                          <a:latin typeface="Arial"/>
                          <a:ea typeface="Arial"/>
                          <a:cs typeface="Arial"/>
                        </a:rPr>
                        <a:t>Saved reviewer metadata and goods rows</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Per-item HS codes and weight allocation</a:t>
                      </a:r>
                    </a:p>
                  </a:txBody>
                  <a:tcPr marL="91440" marR="91440" marT="45720" marB="45720">
                    <a:solidFill>
                      <a:srgbClr val="FFF8EF"/>
                    </a:solidFill>
                  </a:tcPr>
                </a:tc>
              </a:tr>
              <a:tr h="653415">
                <a:tc>
                  <a:txBody>
                    <a:bodyPr>
                      <a:noAutofit/>
                    </a:bodyPr>
                    <a:lstStyle/>
                    <a:p>
                      <a:r>
                        <a:rPr sz="1875" b="0">
                          <a:solidFill>
                            <a:srgbClr val="171B20"/>
                          </a:solidFill>
                          <a:latin typeface="Arial"/>
                          <a:ea typeface="Arial"/>
                          <a:cs typeface="Arial"/>
                        </a:rPr>
                        <a:t>Compatibility-template XML serialization</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Totals and complete field mapping</a:t>
                      </a:r>
                    </a:p>
                  </a:txBody>
                  <a:tcPr marL="91440" marR="91440" marT="45720" marB="45720">
                    <a:solidFill>
                      <a:srgbClr val="FFF8EF"/>
                    </a:solidFill>
                  </a:tcPr>
                </a:tc>
              </a:tr>
              <a:tr h="653415">
                <a:tc>
                  <a:txBody>
                    <a:bodyPr>
                      <a:noAutofit/>
                    </a:bodyPr>
                    <a:lstStyle/>
                    <a:p>
                      <a:r>
                        <a:rPr sz="1875" b="0">
                          <a:solidFill>
                            <a:srgbClr val="171B20"/>
                          </a:solidFill>
                          <a:latin typeface="Arial"/>
                          <a:ea typeface="Arial"/>
                          <a:cs typeface="Arial"/>
                        </a:rPr>
                        <a:t>A template-structure unit test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Accepted import in the target workflow</a:t>
                      </a:r>
                    </a:p>
                  </a:txBody>
                  <a:tcPr marL="91440" marR="91440" marT="45720" marB="45720">
                    <a:solidFill>
                      <a:srgbClr val="FFF8EF"/>
                    </a:solidFill>
                  </a:tcPr>
                </a:tc>
              </a:tr>
            </a:tbl>
          </a:graphicData>
        </a:graphic>
      </p:graphicFrame>
      <p:sp>
        <p:nvSpPr>
          <p:cNvPr id="5" name="XML generation does not establish official acceptance.">
            <a:extLst xmlns:a="http://schemas.openxmlformats.org/drawingml/2006/main">
              <a:ext uri="{FF2B5EF4-FFF2-40B4-BE49-F238E27FC236}">
                <a16:creationId xmlns:a16="http://schemas.microsoft.com/office/drawing/2014/main" id="{BDDCF321-37BA-43D2-8A12-865F441E69CE}"/>
              </a:ext>
            </a:extLst>
          </p:cNvPr>
          <p:cNvSpPr>
            <a:spLocks xmlns:a="http://schemas.openxmlformats.org/drawingml/2006/main" noGrp="1"/>
          </p:cNvSpPr>
          <p:nvPr/>
        </p:nvSpPr>
        <p:spPr>
          <a:xfrm xmlns:a="http://schemas.openxmlformats.org/drawingml/2006/main">
            <a:off x="619125" y="58293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56B16"/>
                </a:solidFill>
                <a:latin typeface="Arial"/>
                <a:ea typeface="Arial"/>
                <a:cs typeface="Arial"/>
              </a:defRPr>
            </a:pPr>
            <a:r>
              <a:rPr sz="2325" b="1">
                <a:solidFill>
                  <a:srgbClr val="F56B16"/>
                </a:solidFill>
                <a:latin typeface="Arial"/>
                <a:ea typeface="Arial"/>
                <a:cs typeface="Arial"/>
              </a:rPr>
              <a:t>XML generation does not establish official acceptance.</a:t>
            </a:r>
          </a:p>
        </p:txBody>
      </p:sp>
    </p:spTree>
    <p:extLst>
      <p:ext uri="{BB962C8B-B14F-4D97-AF65-F5344CB8AC3E}">
        <p14:creationId xmlns:p14="http://schemas.microsoft.com/office/powerpoint/2010/main" val="484170519"/>
      </p:ext>
    </p:extLst>
  </p:cSld>
</p:sld>
</file>

<file path=ppt/slides/slide16.xml><?xml version="1.0" encoding="utf-8"?>
<p:sld xmlns:p="http://schemas.openxmlformats.org/presentationml/2006/main">
  <p:cSld>
    <p:bg>
      <p:bgPr>
        <a:solidFill xmlns:a="http://schemas.openxmlformats.org/drawingml/2006/main">
          <a:srgbClr val="FFF8EF"/>
        </a:solidFill>
      </p:bgPr>
    </p:bg>
    <p:spTree>
      <p:nvGrpSpPr>
        <p:cNvPr id="1" name=""/>
        <p:cNvGrpSpPr/>
        <p:nvPr/>
      </p:nvGrpSpPr>
      <p:grpSpPr>
        <a:xfrm xmlns:a="http://schemas.openxmlformats.org/drawingml/2006/main"/>
      </p:grpSpPr>
      <p:sp>
        <p:nvSpPr>
          <p:cNvPr id="6" name="VIVA BACKUP">
            <a:extLst xmlns:a="http://schemas.openxmlformats.org/drawingml/2006/main">
              <a:ext uri="{FF2B5EF4-FFF2-40B4-BE49-F238E27FC236}">
                <a16:creationId xmlns:a16="http://schemas.microsoft.com/office/drawing/2014/main" id="{064B59D1-1194-4C19-8455-A0BB7774D6EB}"/>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C5E60"/>
                </a:solidFill>
                <a:latin typeface="Arial"/>
                <a:ea typeface="Arial"/>
                <a:cs typeface="Arial"/>
              </a:defRPr>
            </a:pPr>
            <a:r>
              <a:rPr sz="1200" b="1">
                <a:solidFill>
                  <a:srgbClr val="5C5E60"/>
                </a:solidFill>
                <a:latin typeface="Arial"/>
                <a:ea typeface="Arial"/>
                <a:cs typeface="Arial"/>
              </a:rPr>
              <a:t>VIVA BACKUP</a:t>
            </a:r>
          </a:p>
        </p:txBody>
      </p:sp>
      <p:sp>
        <p:nvSpPr>
          <p:cNvPr id="2" name="Hardening priorities">
            <a:extLst xmlns:a="http://schemas.openxmlformats.org/drawingml/2006/main">
              <a:ext uri="{FF2B5EF4-FFF2-40B4-BE49-F238E27FC236}">
                <a16:creationId xmlns:a16="http://schemas.microsoft.com/office/drawing/2014/main" id="{C301030E-270D-4423-A8C1-1C5D27961BCB}"/>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1B20"/>
                </a:solidFill>
                <a:latin typeface="Arial"/>
                <a:ea typeface="Arial"/>
                <a:cs typeface="Arial"/>
              </a:defRPr>
            </a:pPr>
            <a:r>
              <a:rPr sz="3450" b="1">
                <a:solidFill>
                  <a:srgbClr val="171B20"/>
                </a:solidFill>
                <a:latin typeface="Arial"/>
                <a:ea typeface="Arial"/>
                <a:cs typeface="Arial"/>
              </a:rPr>
              <a:t>Hardening priorities</a:t>
            </a:r>
          </a:p>
        </p:txBody>
      </p:sp>
      <p:sp>
        <p:nvSpPr>
          <p:cNvPr id="3" name="16">
            <a:extLst xmlns:a="http://schemas.openxmlformats.org/drawingml/2006/main">
              <a:ext uri="{FF2B5EF4-FFF2-40B4-BE49-F238E27FC236}">
                <a16:creationId xmlns:a16="http://schemas.microsoft.com/office/drawing/2014/main" id="{34CCDC84-93D0-4D39-A3EF-7A7BC85B2887}"/>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C5E60"/>
                </a:solidFill>
                <a:latin typeface="Arial"/>
                <a:ea typeface="Arial"/>
                <a:cs typeface="Arial"/>
              </a:defRPr>
            </a:pPr>
            <a:r>
              <a:rPr sz="1200" b="0">
                <a:solidFill>
                  <a:srgbClr val="5C5E60"/>
                </a:solidFill>
                <a:latin typeface="Arial"/>
                <a:ea typeface="Arial"/>
                <a:cs typeface="Arial"/>
              </a:rPr>
              <a:t>16</a:t>
            </a:r>
          </a:p>
        </p:txBody>
      </p:sp>
      <p:graphicFrame>
        <p:nvGraphicFramePr>
          <p:cNvPr id="9" name=""/>
          <p:cNvGraphicFramePr/>
          <p:nvPr/>
        </p:nvGraphicFramePr>
        <p:xfrm>
          <a:off xmlns:a="http://schemas.openxmlformats.org/drawingml/2006/main" x="609600" y="2038350"/>
          <a:ext xmlns:a="http://schemas.openxmlformats.org/drawingml/2006/main" cx="10972800" cy="3667125"/>
        </p:xfrm>
        <a:graphic xmlns:a="http://schemas.openxmlformats.org/drawingml/2006/main">
          <a:graphicData uri="http://schemas.openxmlformats.org/drawingml/2006/table">
            <a:tbl>
              <a:tblPr/>
              <a:tblGrid>
                <a:gridCol w="3857625"/>
                <a:gridCol w="7115175"/>
              </a:tblGrid>
              <a:tr h="611188">
                <a:tc>
                  <a:txBody>
                    <a:bodyPr>
                      <a:noAutofit/>
                    </a:bodyPr>
                    <a:lstStyle/>
                    <a:p>
                      <a:r>
                        <a:rPr sz="1875" b="1">
                          <a:solidFill>
                            <a:srgbClr val="F56B16"/>
                          </a:solidFill>
                          <a:latin typeface="Arial"/>
                          <a:ea typeface="Arial"/>
                          <a:cs typeface="Arial"/>
                        </a:rPr>
                        <a:t>Priority</a:t>
                      </a:r>
                    </a:p>
                  </a:txBody>
                  <a:tcPr marL="91440" marR="91440" marT="45720" marB="45720">
                    <a:solidFill>
                      <a:srgbClr val="F0DDC7"/>
                    </a:solidFill>
                  </a:tcPr>
                </a:tc>
                <a:tc>
                  <a:txBody>
                    <a:bodyPr>
                      <a:noAutofit/>
                    </a:bodyPr>
                    <a:lstStyle/>
                    <a:p>
                      <a:r>
                        <a:rPr sz="1875" b="1">
                          <a:solidFill>
                            <a:srgbClr val="F56B16"/>
                          </a:solidFill>
                          <a:latin typeface="Arial"/>
                          <a:ea typeface="Arial"/>
                          <a:cs typeface="Arial"/>
                        </a:rPr>
                        <a:t>Concrete work</a:t>
                      </a:r>
                    </a:p>
                  </a:txBody>
                  <a:tcPr marL="91440" marR="91440" marT="45720" marB="45720">
                    <a:solidFill>
                      <a:srgbClr val="F0DDC7"/>
                    </a:solidFill>
                  </a:tcPr>
                </a:tc>
              </a:tr>
              <a:tr h="611188">
                <a:tc>
                  <a:txBody>
                    <a:bodyPr>
                      <a:noAutofit/>
                    </a:bodyPr>
                    <a:lstStyle/>
                    <a:p>
                      <a:r>
                        <a:rPr sz="1875" b="0">
                          <a:solidFill>
                            <a:srgbClr val="171B20"/>
                          </a:solidFill>
                          <a:latin typeface="Arial"/>
                          <a:ea typeface="Arial"/>
                          <a:cs typeface="Arial"/>
                        </a:rPr>
                        <a:t>Protect customer data</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Server-side authorization and protected downloads</a:t>
                      </a:r>
                    </a:p>
                  </a:txBody>
                  <a:tcPr marL="91440" marR="91440" marT="45720" marB="45720">
                    <a:solidFill>
                      <a:srgbClr val="FFF8EF"/>
                    </a:solidFill>
                  </a:tcPr>
                </a:tc>
              </a:tr>
              <a:tr h="611188">
                <a:tc>
                  <a:txBody>
                    <a:bodyPr>
                      <a:noAutofit/>
                    </a:bodyPr>
                    <a:lstStyle/>
                    <a:p>
                      <a:r>
                        <a:rPr sz="1875" b="0">
                          <a:solidFill>
                            <a:srgbClr val="171B20"/>
                          </a:solidFill>
                          <a:latin typeface="Arial"/>
                          <a:ea typeface="Arial"/>
                          <a:cs typeface="Arial"/>
                        </a:rPr>
                        <a:t>Protect processing</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Safe upload paths and bounded PDF workloads</a:t>
                      </a:r>
                    </a:p>
                  </a:txBody>
                  <a:tcPr marL="91440" marR="91440" marT="45720" marB="45720">
                    <a:solidFill>
                      <a:srgbClr val="FFF8EF"/>
                    </a:solidFill>
                  </a:tcPr>
                </a:tc>
              </a:tr>
              <a:tr h="611188">
                <a:tc>
                  <a:txBody>
                    <a:bodyPr>
                      <a:noAutofit/>
                    </a:bodyPr>
                    <a:lstStyle/>
                    <a:p>
                      <a:r>
                        <a:rPr sz="1875" b="0">
                          <a:solidFill>
                            <a:srgbClr val="171B20"/>
                          </a:solidFill>
                          <a:latin typeface="Arial"/>
                          <a:ea typeface="Arial"/>
                          <a:cs typeface="Arial"/>
                        </a:rPr>
                        <a:t>Make outcomes reliable</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Explicit failed/partial states and durable jobs</a:t>
                      </a:r>
                    </a:p>
                  </a:txBody>
                  <a:tcPr marL="91440" marR="91440" marT="45720" marB="45720">
                    <a:solidFill>
                      <a:srgbClr val="FFF8EF"/>
                    </a:solidFill>
                  </a:tcPr>
                </a:tc>
              </a:tr>
              <a:tr h="611188">
                <a:tc>
                  <a:txBody>
                    <a:bodyPr>
                      <a:noAutofit/>
                    </a:bodyPr>
                    <a:lstStyle/>
                    <a:p>
                      <a:r>
                        <a:rPr sz="1875" b="0">
                          <a:solidFill>
                            <a:srgbClr val="171B20"/>
                          </a:solidFill>
                          <a:latin typeface="Arial"/>
                          <a:ea typeface="Arial"/>
                          <a:cs typeface="Arial"/>
                        </a:rPr>
                        <a:t>Make review accountable</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Versioned decisions and actual persistent audit events</a:t>
                      </a:r>
                    </a:p>
                  </a:txBody>
                  <a:tcPr marL="91440" marR="91440" marT="45720" marB="45720">
                    <a:solidFill>
                      <a:srgbClr val="FFF8EF"/>
                    </a:solidFill>
                  </a:tcPr>
                </a:tc>
              </a:tr>
              <a:tr h="611188">
                <a:tc>
                  <a:txBody>
                    <a:bodyPr>
                      <a:noAutofit/>
                    </a:bodyPr>
                    <a:lstStyle/>
                    <a:p>
                      <a:r>
                        <a:rPr sz="1875" b="0">
                          <a:solidFill>
                            <a:srgbClr val="171B20"/>
                          </a:solidFill>
                          <a:latin typeface="Arial"/>
                          <a:ea typeface="Arial"/>
                          <a:cs typeface="Arial"/>
                        </a:rPr>
                        <a:t>Validate export</a:t>
                      </a:r>
                    </a:p>
                  </a:txBody>
                  <a:tcPr marL="91440" marR="91440" marT="45720" marB="45720">
                    <a:solidFill>
                      <a:srgbClr val="FFF8EF"/>
                    </a:solidFill>
                  </a:tcPr>
                </a:tc>
                <a:tc>
                  <a:txBody>
                    <a:bodyPr>
                      <a:noAutofit/>
                    </a:bodyPr>
                    <a:lstStyle/>
                    <a:p>
                      <a:r>
                        <a:rPr sz="1875" b="0">
                          <a:solidFill>
                            <a:srgbClr val="171B20"/>
                          </a:solidFill>
                          <a:latin typeface="Arial"/>
                          <a:ea typeface="Arial"/>
                          <a:cs typeface="Arial"/>
                        </a:rPr>
                        <a:t>Item-level fields and authorized compatibility testing</a:t>
                      </a:r>
                    </a:p>
                  </a:txBody>
                  <a:tcPr marL="91440" marR="91440" marT="45720" marB="45720">
                    <a:solidFill>
                      <a:srgbClr val="FFF8EF"/>
                    </a:solidFill>
                  </a:tcPr>
                </a:tc>
              </a:tr>
            </a:tbl>
          </a:graphicData>
        </a:graphic>
      </p:graphicFrame>
      <p:sp>
        <p:nvSpPr>
          <p:cNvPr id="5" name="These are open engineering tasks, not completed controls.">
            <a:extLst xmlns:a="http://schemas.openxmlformats.org/drawingml/2006/main">
              <a:ext uri="{FF2B5EF4-FFF2-40B4-BE49-F238E27FC236}">
                <a16:creationId xmlns:a16="http://schemas.microsoft.com/office/drawing/2014/main" id="{36D67196-5826-4D92-92EE-163879FAACDD}"/>
              </a:ext>
            </a:extLst>
          </p:cNvPr>
          <p:cNvSpPr>
            <a:spLocks xmlns:a="http://schemas.openxmlformats.org/drawingml/2006/main" noGrp="1"/>
          </p:cNvSpPr>
          <p:nvPr/>
        </p:nvSpPr>
        <p:spPr>
          <a:xfrm xmlns:a="http://schemas.openxmlformats.org/drawingml/2006/main">
            <a:off x="619125" y="59817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C5E60"/>
                </a:solidFill>
                <a:latin typeface="Arial"/>
                <a:ea typeface="Arial"/>
                <a:cs typeface="Arial"/>
              </a:defRPr>
            </a:pPr>
            <a:r>
              <a:rPr sz="1725" b="0">
                <a:solidFill>
                  <a:srgbClr val="5C5E60"/>
                </a:solidFill>
                <a:latin typeface="Arial"/>
                <a:ea typeface="Arial"/>
                <a:cs typeface="Arial"/>
              </a:rPr>
              <a:t>These are open engineering tasks, not completed controls.</a:t>
            </a:r>
          </a:p>
        </p:txBody>
      </p:sp>
    </p:spTree>
    <p:extLst>
      <p:ext uri="{BB962C8B-B14F-4D97-AF65-F5344CB8AC3E}">
        <p14:creationId xmlns:p14="http://schemas.microsoft.com/office/powerpoint/2010/main" val="1419247641"/>
      </p:ext>
    </p:extLst>
  </p:cSld>
</p:sld>
</file>

<file path=ppt/slides/slide17.xml><?xml version="1.0" encoding="utf-8"?>
<p:sld xmlns:p="http://schemas.openxmlformats.org/presentationml/2006/main">
  <p:cSld>
    <p:bg>
      <p:bgPr>
        <a:solidFill xmlns:a="http://schemas.openxmlformats.org/drawingml/2006/main">
          <a:srgbClr val="171B20"/>
        </a:solidFill>
      </p:bgPr>
    </p:bg>
    <p:spTree>
      <p:nvGrpSpPr>
        <p:cNvPr id="1" name=""/>
        <p:cNvGrpSpPr/>
        <p:nvPr/>
      </p:nvGrpSpPr>
      <p:grpSpPr>
        <a:xfrm xmlns:a="http://schemas.openxmlformats.org/drawingml/2006/main"/>
      </p:grpSpPr>
      <p:sp>
        <p:nvSpPr>
          <p:cNvPr id="6" name="VIVA BACKUP">
            <a:extLst xmlns:a="http://schemas.openxmlformats.org/drawingml/2006/main">
              <a:ext uri="{FF2B5EF4-FFF2-40B4-BE49-F238E27FC236}">
                <a16:creationId xmlns:a16="http://schemas.microsoft.com/office/drawing/2014/main" id="{124F8393-643C-43DE-B26D-80F545236DCC}"/>
              </a:ext>
            </a:extLst>
          </p:cNvPr>
          <p:cNvSpPr>
            <a:spLocks xmlns:a="http://schemas.openxmlformats.org/drawingml/2006/main" noGrp="1"/>
          </p:cNvSpPr>
          <p:nvPr/>
        </p:nvSpPr>
        <p:spPr>
          <a:xfrm xmlns:a="http://schemas.openxmlformats.org/drawingml/2006/main">
            <a:off x="609600" y="26670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D9D4CE"/>
                </a:solidFill>
                <a:latin typeface="Arial"/>
                <a:ea typeface="Arial"/>
                <a:cs typeface="Arial"/>
              </a:defRPr>
            </a:pPr>
            <a:r>
              <a:rPr sz="1200" b="1">
                <a:solidFill>
                  <a:srgbClr val="D9D4CE"/>
                </a:solidFill>
                <a:latin typeface="Arial"/>
                <a:ea typeface="Arial"/>
                <a:cs typeface="Arial"/>
              </a:rPr>
              <a:t>VIVA BACKUP</a:t>
            </a:r>
          </a:p>
        </p:txBody>
      </p:sp>
      <p:sp>
        <p:nvSpPr>
          <p:cNvPr id="2" name="The next evidence to collect">
            <a:extLst xmlns:a="http://schemas.openxmlformats.org/drawingml/2006/main">
              <a:ext uri="{FF2B5EF4-FFF2-40B4-BE49-F238E27FC236}">
                <a16:creationId xmlns:a16="http://schemas.microsoft.com/office/drawing/2014/main" id="{01EE9A8D-4A7D-4ED3-B215-CE630E90743A}"/>
              </a:ext>
            </a:extLst>
          </p:cNvPr>
          <p:cNvSpPr>
            <a:spLocks xmlns:a="http://schemas.openxmlformats.org/drawingml/2006/main" noGrp="1"/>
          </p:cNvSpPr>
          <p:nvPr/>
        </p:nvSpPr>
        <p:spPr>
          <a:xfrm xmlns:a="http://schemas.openxmlformats.org/drawingml/2006/main">
            <a:off x="609600" y="8667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8EF"/>
                </a:solidFill>
                <a:latin typeface="Arial"/>
                <a:ea typeface="Arial"/>
                <a:cs typeface="Arial"/>
              </a:defRPr>
            </a:pPr>
            <a:r>
              <a:rPr sz="3450" b="1">
                <a:solidFill>
                  <a:srgbClr val="FFF8EF"/>
                </a:solidFill>
                <a:latin typeface="Arial"/>
                <a:ea typeface="Arial"/>
                <a:cs typeface="Arial"/>
              </a:rPr>
              <a:t>The next evidence to collect</a:t>
            </a:r>
          </a:p>
        </p:txBody>
      </p:sp>
      <p:sp>
        <p:nvSpPr>
          <p:cNvPr id="3" name="17">
            <a:extLst xmlns:a="http://schemas.openxmlformats.org/drawingml/2006/main">
              <a:ext uri="{FF2B5EF4-FFF2-40B4-BE49-F238E27FC236}">
                <a16:creationId xmlns:a16="http://schemas.microsoft.com/office/drawing/2014/main" id="{9255D71D-036B-4C68-B1A1-5B8A49D73F84}"/>
              </a:ext>
            </a:extLst>
          </p:cNvPr>
          <p:cNvSpPr>
            <a:spLocks xmlns:a="http://schemas.openxmlformats.org/drawingml/2006/main" noGrp="1"/>
          </p:cNvSpPr>
          <p:nvPr/>
        </p:nvSpPr>
        <p:spPr>
          <a:xfrm xmlns:a="http://schemas.openxmlformats.org/drawingml/2006/main">
            <a:off x="10953750" y="63246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9D4CE"/>
                </a:solidFill>
                <a:latin typeface="Arial"/>
                <a:ea typeface="Arial"/>
                <a:cs typeface="Arial"/>
              </a:defRPr>
            </a:pPr>
            <a:r>
              <a:rPr sz="1200" b="0">
                <a:solidFill>
                  <a:srgbClr val="D9D4CE"/>
                </a:solidFill>
                <a:latin typeface="Arial"/>
                <a:ea typeface="Arial"/>
                <a:cs typeface="Arial"/>
              </a:rPr>
              <a:t>17</a:t>
            </a:r>
          </a:p>
        </p:txBody>
      </p:sp>
      <p:graphicFrame>
        <p:nvGraphicFramePr>
          <p:cNvPr id="9" name=""/>
          <p:cNvGraphicFramePr/>
          <p:nvPr/>
        </p:nvGraphicFramePr>
        <p:xfrm>
          <a:off xmlns:a="http://schemas.openxmlformats.org/drawingml/2006/main" x="609600" y="2047875"/>
          <a:ext xmlns:a="http://schemas.openxmlformats.org/drawingml/2006/main" cx="10972800" cy="3657600"/>
        </p:xfrm>
        <a:graphic xmlns:a="http://schemas.openxmlformats.org/drawingml/2006/main">
          <a:graphicData uri="http://schemas.openxmlformats.org/drawingml/2006/table">
            <a:tbl>
              <a:tblPr/>
              <a:tblGrid>
                <a:gridCol w="5476875"/>
                <a:gridCol w="5495925"/>
              </a:tblGrid>
              <a:tr h="609600">
                <a:tc>
                  <a:txBody>
                    <a:bodyPr>
                      <a:noAutofit/>
                    </a:bodyPr>
                    <a:lstStyle/>
                    <a:p>
                      <a:r>
                        <a:rPr sz="1875" b="1">
                          <a:solidFill>
                            <a:srgbClr val="F56B16"/>
                          </a:solidFill>
                          <a:latin typeface="Arial"/>
                          <a:ea typeface="Arial"/>
                          <a:cs typeface="Arial"/>
                        </a:rPr>
                        <a:t>Question</a:t>
                      </a:r>
                    </a:p>
                  </a:txBody>
                  <a:tcPr marL="91440" marR="91440" marT="45720" marB="45720">
                    <a:solidFill>
                      <a:srgbClr val="292A2B"/>
                    </a:solidFill>
                  </a:tcPr>
                </a:tc>
                <a:tc>
                  <a:txBody>
                    <a:bodyPr>
                      <a:noAutofit/>
                    </a:bodyPr>
                    <a:lstStyle/>
                    <a:p>
                      <a:r>
                        <a:rPr sz="1875" b="1">
                          <a:solidFill>
                            <a:srgbClr val="F56B16"/>
                          </a:solidFill>
                          <a:latin typeface="Arial"/>
                          <a:ea typeface="Arial"/>
                          <a:cs typeface="Arial"/>
                        </a:rPr>
                        <a:t>Measure</a:t>
                      </a:r>
                    </a:p>
                  </a:txBody>
                  <a:tcPr marL="91440" marR="91440" marT="45720" marB="45720">
                    <a:solidFill>
                      <a:srgbClr val="292A2B"/>
                    </a:solidFill>
                  </a:tcPr>
                </a:tc>
              </a:tr>
              <a:tr h="609600">
                <a:tc>
                  <a:txBody>
                    <a:bodyPr>
                      <a:noAutofit/>
                    </a:bodyPr>
                    <a:lstStyle/>
                    <a:p>
                      <a:r>
                        <a:rPr sz="1875" b="0">
                          <a:solidFill>
                            <a:srgbClr val="FFF8EF"/>
                          </a:solidFill>
                          <a:latin typeface="Arial"/>
                          <a:ea typeface="Arial"/>
                          <a:cs typeface="Arial"/>
                        </a:rPr>
                        <a:t>Does it catch the right conflicts?</a:t>
                      </a:r>
                    </a:p>
                  </a:txBody>
                  <a:tcPr marL="91440" marR="91440" marT="45720" marB="45720">
                    <a:solidFill>
                      <a:srgbClr val="171B20"/>
                    </a:solidFill>
                  </a:tcPr>
                </a:tc>
                <a:tc>
                  <a:txBody>
                    <a:bodyPr>
                      <a:noAutofit/>
                    </a:bodyPr>
                    <a:lstStyle/>
                    <a:p>
                      <a:r>
                        <a:rPr sz="1875" b="0">
                          <a:solidFill>
                            <a:srgbClr val="FFF8EF"/>
                          </a:solidFill>
                          <a:latin typeface="Arial"/>
                          <a:ea typeface="Arial"/>
                          <a:cs typeface="Arial"/>
                        </a:rPr>
                        <a:t>Conflict precision and recall</a:t>
                      </a:r>
                    </a:p>
                  </a:txBody>
                  <a:tcPr marL="91440" marR="91440" marT="45720" marB="45720">
                    <a:solidFill>
                      <a:srgbClr val="171B20"/>
                    </a:solidFill>
                  </a:tcPr>
                </a:tc>
              </a:tr>
              <a:tr h="609600">
                <a:tc>
                  <a:txBody>
                    <a:bodyPr>
                      <a:noAutofit/>
                    </a:bodyPr>
                    <a:lstStyle/>
                    <a:p>
                      <a:r>
                        <a:rPr sz="1875" b="0">
                          <a:solidFill>
                            <a:srgbClr val="FFF8EF"/>
                          </a:solidFill>
                          <a:latin typeface="Arial"/>
                          <a:ea typeface="Arial"/>
                          <a:cs typeface="Arial"/>
                        </a:rPr>
                        <a:t>Can users verify the evidence?</a:t>
                      </a:r>
                    </a:p>
                  </a:txBody>
                  <a:tcPr marL="91440" marR="91440" marT="45720" marB="45720">
                    <a:solidFill>
                      <a:srgbClr val="171B20"/>
                    </a:solidFill>
                  </a:tcPr>
                </a:tc>
                <a:tc>
                  <a:txBody>
                    <a:bodyPr>
                      <a:noAutofit/>
                    </a:bodyPr>
                    <a:lstStyle/>
                    <a:p>
                      <a:r>
                        <a:rPr sz="1875" b="0">
                          <a:solidFill>
                            <a:srgbClr val="FFF8EF"/>
                          </a:solidFill>
                          <a:latin typeface="Arial"/>
                          <a:ea typeface="Arial"/>
                          <a:cs typeface="Arial"/>
                        </a:rPr>
                        <a:t>Field accuracy and source localization</a:t>
                      </a:r>
                    </a:p>
                  </a:txBody>
                  <a:tcPr marL="91440" marR="91440" marT="45720" marB="45720">
                    <a:solidFill>
                      <a:srgbClr val="171B20"/>
                    </a:solidFill>
                  </a:tcPr>
                </a:tc>
              </a:tr>
              <a:tr h="609600">
                <a:tc>
                  <a:txBody>
                    <a:bodyPr>
                      <a:noAutofit/>
                    </a:bodyPr>
                    <a:lstStyle/>
                    <a:p>
                      <a:r>
                        <a:rPr sz="1875" b="0">
                          <a:solidFill>
                            <a:srgbClr val="FFF8EF"/>
                          </a:solidFill>
                          <a:latin typeface="Arial"/>
                          <a:ea typeface="Arial"/>
                          <a:cs typeface="Arial"/>
                        </a:rPr>
                        <a:t>Does it reduce work?</a:t>
                      </a:r>
                    </a:p>
                  </a:txBody>
                  <a:tcPr marL="91440" marR="91440" marT="45720" marB="45720">
                    <a:solidFill>
                      <a:srgbClr val="171B20"/>
                    </a:solidFill>
                  </a:tcPr>
                </a:tc>
                <a:tc>
                  <a:txBody>
                    <a:bodyPr>
                      <a:noAutofit/>
                    </a:bodyPr>
                    <a:lstStyle/>
                    <a:p>
                      <a:r>
                        <a:rPr sz="1875" b="0">
                          <a:solidFill>
                            <a:srgbClr val="FFF8EF"/>
                          </a:solidFill>
                          <a:latin typeface="Arial"/>
                          <a:ea typeface="Arial"/>
                          <a:cs typeface="Arial"/>
                        </a:rPr>
                        <a:t>Paired manual vs assisted review time</a:t>
                      </a:r>
                    </a:p>
                  </a:txBody>
                  <a:tcPr marL="91440" marR="91440" marT="45720" marB="45720">
                    <a:solidFill>
                      <a:srgbClr val="171B20"/>
                    </a:solidFill>
                  </a:tcPr>
                </a:tc>
              </a:tr>
              <a:tr h="609600">
                <a:tc>
                  <a:txBody>
                    <a:bodyPr>
                      <a:noAutofit/>
                    </a:bodyPr>
                    <a:lstStyle/>
                    <a:p>
                      <a:r>
                        <a:rPr sz="1875" b="0">
                          <a:solidFill>
                            <a:srgbClr val="FFF8EF"/>
                          </a:solidFill>
                          <a:latin typeface="Arial"/>
                          <a:ea typeface="Arial"/>
                          <a:cs typeface="Arial"/>
                        </a:rPr>
                        <a:t>Does it clear unsafe cases?</a:t>
                      </a:r>
                    </a:p>
                  </a:txBody>
                  <a:tcPr marL="91440" marR="91440" marT="45720" marB="45720">
                    <a:solidFill>
                      <a:srgbClr val="171B20"/>
                    </a:solidFill>
                  </a:tcPr>
                </a:tc>
                <a:tc>
                  <a:txBody>
                    <a:bodyPr>
                      <a:noAutofit/>
                    </a:bodyPr>
                    <a:lstStyle/>
                    <a:p>
                      <a:r>
                        <a:rPr sz="1875" b="0">
                          <a:solidFill>
                            <a:srgbClr val="FFF8EF"/>
                          </a:solidFill>
                          <a:latin typeface="Arial"/>
                          <a:ea typeface="Arial"/>
                          <a:cs typeface="Arial"/>
                        </a:rPr>
                        <a:t>False-clear rate</a:t>
                      </a:r>
                    </a:p>
                  </a:txBody>
                  <a:tcPr marL="91440" marR="91440" marT="45720" marB="45720">
                    <a:solidFill>
                      <a:srgbClr val="171B20"/>
                    </a:solidFill>
                  </a:tcPr>
                </a:tc>
              </a:tr>
              <a:tr h="609600">
                <a:tc>
                  <a:txBody>
                    <a:bodyPr>
                      <a:noAutofit/>
                    </a:bodyPr>
                    <a:lstStyle/>
                    <a:p>
                      <a:r>
                        <a:rPr sz="1875" b="0">
                          <a:solidFill>
                            <a:srgbClr val="FFF8EF"/>
                          </a:solidFill>
                          <a:latin typeface="Arial"/>
                          <a:ea typeface="Arial"/>
                          <a:cs typeface="Arial"/>
                        </a:rPr>
                        <a:t>Can it operate sustainably?</a:t>
                      </a:r>
                    </a:p>
                  </a:txBody>
                  <a:tcPr marL="91440" marR="91440" marT="45720" marB="45720">
                    <a:solidFill>
                      <a:srgbClr val="171B20"/>
                    </a:solidFill>
                  </a:tcPr>
                </a:tc>
                <a:tc>
                  <a:txBody>
                    <a:bodyPr>
                      <a:noAutofit/>
                    </a:bodyPr>
                    <a:lstStyle/>
                    <a:p>
                      <a:r>
                        <a:rPr sz="1875" b="0">
                          <a:solidFill>
                            <a:srgbClr val="FFF8EF"/>
                          </a:solidFill>
                          <a:latin typeface="Arial"/>
                          <a:ea typeface="Arial"/>
                          <a:cs typeface="Arial"/>
                        </a:rPr>
                        <a:t>Latency, cost, and reviewer effort</a:t>
                      </a:r>
                    </a:p>
                  </a:txBody>
                  <a:tcPr marL="91440" marR="91440" marT="45720" marB="45720">
                    <a:solidFill>
                      <a:srgbClr val="171B20"/>
                    </a:solidFill>
                  </a:tcPr>
                </a:tc>
              </a:tr>
            </a:tbl>
          </a:graphicData>
        </a:graphic>
      </p:graphicFrame>
      <p:sp>
        <p:nvSpPr>
          <p:cNvPr id="5" name="Held-out, permissioned dossiers. Report failures and sample ">
            <a:extLst xmlns:a="http://schemas.openxmlformats.org/drawingml/2006/main">
              <a:ext uri="{FF2B5EF4-FFF2-40B4-BE49-F238E27FC236}">
                <a16:creationId xmlns:a16="http://schemas.microsoft.com/office/drawing/2014/main" id="{D4706C78-5460-4665-ACAB-CF49217520F8}"/>
              </a:ext>
            </a:extLst>
          </p:cNvPr>
          <p:cNvSpPr>
            <a:spLocks xmlns:a="http://schemas.openxmlformats.org/drawingml/2006/main" noGrp="1"/>
          </p:cNvSpPr>
          <p:nvPr/>
        </p:nvSpPr>
        <p:spPr>
          <a:xfrm xmlns:a="http://schemas.openxmlformats.org/drawingml/2006/main">
            <a:off x="619125" y="6000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56B16"/>
                </a:solidFill>
                <a:latin typeface="Arial"/>
                <a:ea typeface="Arial"/>
                <a:cs typeface="Arial"/>
              </a:defRPr>
            </a:pPr>
            <a:r>
              <a:rPr sz="1800" b="0">
                <a:solidFill>
                  <a:srgbClr val="F56B16"/>
                </a:solidFill>
                <a:latin typeface="Arial"/>
                <a:ea typeface="Arial"/>
                <a:cs typeface="Arial"/>
              </a:rPr>
              <a:t>Held-out, permissioned dossiers. Report failures and sample size.</a:t>
            </a:r>
          </a:p>
        </p:txBody>
      </p:sp>
    </p:spTree>
    <p:extLst>
      <p:ext uri="{BB962C8B-B14F-4D97-AF65-F5344CB8AC3E}">
        <p14:creationId xmlns:p14="http://schemas.microsoft.com/office/powerpoint/2010/main" val="1204854534"/>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2026-09-29T22:37:29.5110000Z</dcterms:created>
  <dcterms:modified xsi:type="dcterms:W3CDTF">2026-09-29T22:37:29.5110000Z</dcterms:modified>
</coreProperties>
</file>